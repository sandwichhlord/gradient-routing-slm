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[0:00–1:00]  (Presenter 1)</a:t>
            </a:r>
          </a:p>
          <a:p>
            <a:r>
              <a:t>Good morning. We are [names], and this is our minor project: "Interpretable-by-Design Language Models via Activation-Based Gradient Routing".</a:t>
            </a:r>
          </a:p>
          <a:p>
            <a:r>
              <a:t>That is a long title, so here is the plain version. The AI language models behind chatbots are black boxes: we cannot see where a skill is stored inside them. Our project asks whether a model can be trained so that it organises itself into specialised parts, a bit like the regions of a brain, so that we can look inside it.</a:t>
            </a:r>
          </a:p>
          <a:p>
            <a:r>
              <a:t>In the next ten minutes we will explain the problem, what others have done, our idea, how we test it, what we have already built and measured, and what is left to do.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[1:00–2:00]</a:t>
            </a:r>
          </a:p>
          <a:p>
            <a:r>
              <a:t>A language model is a program that learns to predict the next word in a text. It does this by adjusting millions of numbers, called weights, while it reads lots of text. Our model learned from three kinds of text: children's stories, simple arithmetic, and Python code.</a:t>
            </a:r>
          </a:p>
          <a:p>
            <a:r>
              <a:t>Here is the catch. In today's models, every skill is spread over all the weights, mixed together, like the coloured dots on the right.</a:t>
            </a:r>
          </a:p>
          <a:p>
            <a:r>
              <a:t>Compare that with a human brain, on the left. A brain has specialised regions: one area for language, another for vision, another for movement. Doctors can tell which region is damaged from which ability is lost.</a:t>
            </a:r>
          </a:p>
          <a:p>
            <a:r>
              <a:t>An AI model has no such regions. That is why we call it a black box: there is no place to look for "the math part".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[2:00–3:00]</a:t>
            </a:r>
          </a:p>
          <a:p>
            <a:r>
              <a:t>This black-box design causes three concrete problems.</a:t>
            </a:r>
          </a:p>
          <a:p>
            <a:r>
              <a:t>One: we cannot explain an answer. We cannot point to the part of the model that produced it.</a:t>
            </a:r>
          </a:p>
          <a:p>
            <a:r>
              <a:t>Two: we cannot delete a skill. If a model learned something unsafe or private, "unlearning" it normally means retraining from scratch, because the knowledge is smeared everywhere.</a:t>
            </a:r>
          </a:p>
          <a:p>
            <a:r>
              <a:t>Three: catastrophic forgetting. When we teach the model something new, it can overwrite what it knew before.</a:t>
            </a:r>
          </a:p>
          <a:p>
            <a:r>
              <a:t>All three would be easier if skills lived in separate regions. So our research question is: can a model organise its own "brain regions" while it is training, without us telling it how?</a:t>
            </a:r>
          </a:p>
          <a:p>
            <a:r>
              <a:t>▶ HANDOVER: Presenter 1 hands over to Presenter 2 for slide 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[3:00–4:00]  (Presenter 2)</a:t>
            </a:r>
          </a:p>
          <a:p>
            <a:r>
              <a:t>Three lines of existing research touch on this.</a:t>
            </a:r>
          </a:p>
          <a:p>
            <a:r>
              <a:t>Mixture of Experts, used in Switch Transformer and Mixtral, splits the model into expert parts and uses a learned "router" to pick which experts handle each word. But its goal is cheaper computing, not understanding, and the Mixtral authors report that experts do not split up by subject.</a:t>
            </a:r>
          </a:p>
          <a:p>
            <a:r>
              <a:t>Gradient Routing, by Cloud and colleagues in 2024, does localise skills in chosen parts of the model so they can be removed later. But humans have to decide which data goes to which part.</a:t>
            </a:r>
          </a:p>
          <a:p>
            <a:r>
              <a:t>Elastic Weight Consolidation, from 2017, protects the important weights against forgetting, but it needs to know when the task changes.</a:t>
            </a:r>
          </a:p>
          <a:p>
            <a:r>
              <a:t>So here is the gap: nobody lets the model decide the regions itself, without human labels. That is what we try.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[4:00–5:00]</a:t>
            </a:r>
          </a:p>
          <a:p>
            <a:r>
              <a:t>Here is our idea. Inside every layer there is a part called the MLP, which stores most of the model's knowledge. We cut it into 8 equal blocks.</a:t>
            </a:r>
          </a:p>
          <a:p>
            <a:r>
              <a:t>For each batch of text, we measure how active each block is. Only the two most active blocks in each layer are allowed to learn from that batch: the learning signal, called the gradient, is blocked for the other six. All eight blocks still do their work when the model reads text. Only learning is restricted.</a:t>
            </a:r>
          </a:p>
          <a:p>
            <a:r>
              <a:t>There is one problem. A block that loses could never come back, so we add a balancing nudge that keeps idle blocks alive.</a:t>
            </a:r>
          </a:p>
          <a:p>
            <a:r>
              <a:t>The inspiration is the brain: regions specialise because they are used, and they compete. Our hope is that a block that wins on math keeps winning on math.</a:t>
            </a:r>
          </a:p>
          <a:p>
            <a:r>
              <a:t>▶ HANDOVER: Presenter 2 hands over to Presenter 3 for slide 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[5:00–6:00]  (Presenter 3)</a:t>
            </a:r>
          </a:p>
          <a:p>
            <a:r>
              <a:t>How do we know whether the blocks specialised? We copy what neurologists do: switch one part off and see what breaks.</a:t>
            </a:r>
          </a:p>
          <a:p>
            <a:r>
              <a:t>We zero out one block at a time and measure how much the model's error rises on each of the three skills: stories, math and code. In the heatmap that we will show shortly, each row is one block, and the colour shows how much worse the model gets.</a:t>
            </a:r>
          </a:p>
          <a:p>
            <a:r>
              <a:t>On the left is an illustrative sketch, not real data. In a normal, dense model, every block matters a little for everything, so the rows look the same. On the right is what a specialised model would look like: each block hurts mainly one skill.</a:t>
            </a:r>
          </a:p>
          <a:p>
            <a:r>
              <a:t>We summarise this in one number, the specialization score S. Zero means a block's skill is shared across all domains. One means the block serves a single domain.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[6:00–7:00]</a:t>
            </a:r>
          </a:p>
          <a:p>
            <a:r>
              <a:t>What we built. The model is a small GPT-style language model, written in PyTorch following the nanoGPT design: 6 layers, 384 numbers wide, about 10.6 million learned numbers in the core, or 29.9 million counting the word table. With 8 blocks in each of the 6 layers, there are 48 blocks to study.</a:t>
            </a:r>
          </a:p>
          <a:p>
            <a:r>
              <a:t>It trains on 40.6 million tokens, where a token is a word piece, from three sources: TinyStories for stories, 20 million tokens; our own generator for arithmetic lines like this one, 10 million; and CodeParrot for Python code, 10.6 million.</a:t>
            </a:r>
          </a:p>
          <a:p>
            <a:r>
              <a:t>We trained on a free Kaggle T4 GPU; the baseline took about 19 minutes. Everything is on GitHub with an automated pipeline from data to plots, and all 14 automated tests pass, including tests that prove only the chosen two blocks receive the learning signal.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[7:00–8:00]</a:t>
            </a:r>
          </a:p>
          <a:p>
            <a:r>
              <a:t>Results so far. Both models trained for 5,000 steps, about 20 minutes each. Top left, the loss curves: lower is better, and the model learns all three domains.</a:t>
            </a:r>
          </a:p>
          <a:p>
            <a:r>
              <a:t>In the table, "dense" is the normal model and "routed" uses our method. Routing costs a little accuracy: story loss goes from 2.12 to 2.27, math from 1.47 to 1.51, code from 2.50 to 2.66, about 3 to 7 percent worse.</a:t>
            </a:r>
          </a:p>
          <a:p>
            <a:r>
              <a:t>The key number is the specialization score: 0.051 for dense, 0.110 for routed. Routing roughly doubled it, and the routed heatmap shows a few dark, domain-specific blocks. The colour scales differ, so compare the shapes, not the shades.</a:t>
            </a:r>
          </a:p>
          <a:p>
            <a:r>
              <a:t>On the right are real samples from the dense model: stories are readable, the math format is learned but answers are often wrong, and the code is not valid yet.</a:t>
            </a:r>
          </a:p>
          <a:p>
            <a:r>
              <a:t>Honest caveat: one run per model, so we cannot yet prove the gap is not luck.</a:t>
            </a:r>
          </a:p>
          <a:p>
            <a:r>
              <a:t>▶ HANDOVER: Presenter 3 hands over to Presenter 4 for slide 9.</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[8:00–9:00]  (Presenter 4)</a:t>
            </a:r>
          </a:p>
          <a:p>
            <a:r>
              <a:t>An important finding along the way. In our first version, the balancing nudge was blocked too, along with everything else. In a small test, 9 of 16 blocks were never chosen at all. Once a block loses, it gets no learning signal, so it can never win again. We let the balancing signal bypass the block, so idle blocks keep getting nudged, and every block stays in use. In the full run, all 48 blocks were used. We kept the failure as an automated test.</a:t>
            </a:r>
          </a:p>
          <a:p>
            <a:r>
              <a:t>What is still open. First, one block, block 6 in layer 0, was chosen 70 percent of the time, while most blocks were chosen 15 to 31 percent. Second, each batch mixes stories, math and code, so a block's pick averages over the domains. Third, the optimizer we use, AdamW, still slightly moves blocks whose learning signal we blocked, through momentum and weight decay.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[9:00–10:00]</a:t>
            </a:r>
          </a:p>
          <a:p>
            <a:r>
              <a:t>To summarise our progress. The data pipeline and baseline training are complete. The routing module is complete too: implemented, tested, and run once at full scale. The evaluation harness is ongoing: the switch-one-block-off test is done, but the probes that read what each block encodes are still pending.</a:t>
            </a:r>
          </a:p>
          <a:p>
            <a:r>
              <a:t>Next, we will repeat the runs with several seeds, to see whether the doubling of S is real. Then a baseline where humans assign the regions, which is our upper bound. We will also fix the dominant block and the optimizer drift, add a consolidation phase, build the domain probes, and run unlearning and continual-learning experiments.</a:t>
            </a:r>
          </a:p>
          <a:p>
            <a:r>
              <a:t>Thank you. We are happy to take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Rounded Rectangle 1"/>
          <p:cNvSpPr/>
          <p:nvPr/>
        </p:nvSpPr>
        <p:spPr>
          <a:xfrm>
            <a:off x="731520" y="822960"/>
            <a:ext cx="457200" cy="457200"/>
          </a:xfrm>
          <a:prstGeom prst="roundRect">
            <a:avLst>
              <a:gd name="adj" fmla="val 18000"/>
            </a:avLst>
          </a:prstGeom>
          <a:solidFill>
            <a:srgbClr val="2B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298448" y="822960"/>
            <a:ext cx="457200" cy="457200"/>
          </a:xfrm>
          <a:prstGeom prst="roundRect">
            <a:avLst>
              <a:gd name="adj" fmla="val 1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865376" y="822960"/>
            <a:ext cx="457200" cy="457200"/>
          </a:xfrm>
          <a:prstGeom prst="roundRect">
            <a:avLst>
              <a:gd name="adj" fmla="val 18000"/>
            </a:avLst>
          </a:prstGeom>
          <a:solidFill>
            <a:srgbClr val="2B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432304" y="822960"/>
            <a:ext cx="457200" cy="457200"/>
          </a:xfrm>
          <a:prstGeom prst="roundRect">
            <a:avLst>
              <a:gd name="adj" fmla="val 18000"/>
            </a:avLst>
          </a:prstGeom>
          <a:solidFill>
            <a:srgbClr val="2B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999232" y="822960"/>
            <a:ext cx="457200" cy="457200"/>
          </a:xfrm>
          <a:prstGeom prst="roundRect">
            <a:avLst>
              <a:gd name="adj" fmla="val 1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566160" y="822960"/>
            <a:ext cx="457200" cy="457200"/>
          </a:xfrm>
          <a:prstGeom prst="roundRect">
            <a:avLst>
              <a:gd name="adj" fmla="val 18000"/>
            </a:avLst>
          </a:prstGeom>
          <a:solidFill>
            <a:srgbClr val="2B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133087" y="822960"/>
            <a:ext cx="457200" cy="457200"/>
          </a:xfrm>
          <a:prstGeom prst="roundRect">
            <a:avLst>
              <a:gd name="adj" fmla="val 1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700016" y="822960"/>
            <a:ext cx="457200" cy="457200"/>
          </a:xfrm>
          <a:prstGeom prst="roundRect">
            <a:avLst>
              <a:gd name="adj" fmla="val 18000"/>
            </a:avLst>
          </a:prstGeom>
          <a:solidFill>
            <a:srgbClr val="2B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itle"/>
          <p:cNvSpPr txBox="1"/>
          <p:nvPr/>
        </p:nvSpPr>
        <p:spPr>
          <a:xfrm>
            <a:off x="731520" y="1737360"/>
            <a:ext cx="10698480" cy="2103120"/>
          </a:xfrm>
          <a:prstGeom prst="rect">
            <a:avLst/>
          </a:prstGeom>
          <a:noFill/>
        </p:spPr>
        <p:txBody>
          <a:bodyPr wrap="square" anchor="t" lIns="45720" rIns="45720" tIns="27432" bIns="27432">
            <a:spAutoFit/>
          </a:bodyPr>
          <a:lstStyle/>
          <a:p>
            <a:pPr algn="l"/>
            <a:r>
              <a:rPr sz="4400" b="1" i="0">
                <a:solidFill>
                  <a:srgbClr val="FFFFFF"/>
                </a:solidFill>
                <a:latin typeface="Cambria"/>
              </a:rPr>
              <a:t>Interpretable-by-Design Language Models via Activation-Based Gradient Routing</a:t>
            </a:r>
          </a:p>
        </p:txBody>
      </p:sp>
      <p:sp>
        <p:nvSpPr>
          <p:cNvPr id="11" name="TextBox 10"/>
          <p:cNvSpPr txBox="1"/>
          <p:nvPr/>
        </p:nvSpPr>
        <p:spPr>
          <a:xfrm>
            <a:off x="731520" y="3977639"/>
            <a:ext cx="10698480" cy="548640"/>
          </a:xfrm>
          <a:prstGeom prst="rect">
            <a:avLst/>
          </a:prstGeom>
          <a:noFill/>
        </p:spPr>
        <p:txBody>
          <a:bodyPr wrap="square" anchor="t" lIns="45720" rIns="45720" tIns="27432" bIns="27432">
            <a:spAutoFit/>
          </a:bodyPr>
          <a:lstStyle/>
          <a:p>
            <a:pPr algn="l"/>
            <a:r>
              <a:rPr sz="2600" b="0" i="0">
                <a:solidFill>
                  <a:srgbClr val="CADCFC"/>
                </a:solidFill>
                <a:latin typeface="Calibri"/>
              </a:rPr>
              <a:t>Minor Project  |  Mid-Term Evaluation</a:t>
            </a:r>
          </a:p>
        </p:txBody>
      </p:sp>
      <p:sp>
        <p:nvSpPr>
          <p:cNvPr id="12" name="TextBox 11"/>
          <p:cNvSpPr txBox="1"/>
          <p:nvPr/>
        </p:nvSpPr>
        <p:spPr>
          <a:xfrm>
            <a:off x="731520" y="4572000"/>
            <a:ext cx="10698480" cy="457200"/>
          </a:xfrm>
          <a:prstGeom prst="rect">
            <a:avLst/>
          </a:prstGeom>
          <a:noFill/>
        </p:spPr>
        <p:txBody>
          <a:bodyPr wrap="square" anchor="t" lIns="45720" rIns="45720" tIns="27432" bIns="27432">
            <a:spAutoFit/>
          </a:bodyPr>
          <a:lstStyle/>
          <a:p>
            <a:pPr algn="l"/>
            <a:r>
              <a:rPr sz="2200" b="0" i="0">
                <a:solidFill>
                  <a:srgbClr val="FFFFFF"/>
                </a:solidFill>
                <a:latin typeface="Calibri"/>
              </a:rPr>
              <a:t>Department of CSE, PEC</a:t>
            </a:r>
          </a:p>
        </p:txBody>
      </p:sp>
      <p:sp>
        <p:nvSpPr>
          <p:cNvPr id="13" name="TextBox 12"/>
          <p:cNvSpPr txBox="1"/>
          <p:nvPr/>
        </p:nvSpPr>
        <p:spPr>
          <a:xfrm>
            <a:off x="731520" y="5166360"/>
            <a:ext cx="10698480" cy="457200"/>
          </a:xfrm>
          <a:prstGeom prst="rect">
            <a:avLst/>
          </a:prstGeom>
          <a:noFill/>
        </p:spPr>
        <p:txBody>
          <a:bodyPr wrap="square" anchor="t" lIns="45720" rIns="45720" tIns="27432" bIns="27432">
            <a:spAutoFit/>
          </a:bodyPr>
          <a:lstStyle/>
          <a:p>
            <a:pPr algn="l"/>
            <a:r>
              <a:rPr sz="2000" b="0" i="0">
                <a:solidFill>
                  <a:srgbClr val="FFFFFF"/>
                </a:solidFill>
                <a:latin typeface="Calibri"/>
              </a:rPr>
              <a:t>Team: [Name 1]  ·  [Name 2]  ·  [Name 3]  ·  [Name 4]</a:t>
            </a:r>
          </a:p>
        </p:txBody>
      </p:sp>
      <p:sp>
        <p:nvSpPr>
          <p:cNvPr id="14" name="TextBox 13"/>
          <p:cNvSpPr txBox="1"/>
          <p:nvPr/>
        </p:nvSpPr>
        <p:spPr>
          <a:xfrm>
            <a:off x="731520" y="5669280"/>
            <a:ext cx="10698480" cy="457200"/>
          </a:xfrm>
          <a:prstGeom prst="rect">
            <a:avLst/>
          </a:prstGeom>
          <a:noFill/>
        </p:spPr>
        <p:txBody>
          <a:bodyPr wrap="square" anchor="t" lIns="45720" rIns="45720" tIns="27432" bIns="27432">
            <a:spAutoFit/>
          </a:bodyPr>
          <a:lstStyle/>
          <a:p>
            <a:pPr algn="l"/>
            <a:r>
              <a:rPr sz="2000" b="0" i="0">
                <a:solidFill>
                  <a:srgbClr val="CADCFC"/>
                </a:solidFill>
                <a:latin typeface="Calibri"/>
              </a:rPr>
              <a:t>Guide: [Guide name]    |    [Date]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20040"/>
            <a:ext cx="11064240" cy="822960"/>
          </a:xfrm>
          <a:prstGeom prst="rect">
            <a:avLst/>
          </a:prstGeom>
          <a:noFill/>
        </p:spPr>
        <p:txBody>
          <a:bodyPr wrap="square" anchor="ctr" lIns="45720" rIns="45720" tIns="27432" bIns="27432">
            <a:spAutoFit/>
          </a:bodyPr>
          <a:lstStyle/>
          <a:p>
            <a:pPr algn="l"/>
            <a:r>
              <a:rPr sz="3600" b="1" i="0">
                <a:solidFill>
                  <a:srgbClr val="14213D"/>
                </a:solidFill>
                <a:latin typeface="Cambria"/>
              </a:rPr>
              <a:t>A language model is a black box</a:t>
            </a:r>
          </a:p>
        </p:txBody>
      </p:sp>
      <p:sp>
        <p:nvSpPr>
          <p:cNvPr id="3" name="TextBox 2"/>
          <p:cNvSpPr txBox="1"/>
          <p:nvPr/>
        </p:nvSpPr>
        <p:spPr>
          <a:xfrm>
            <a:off x="10881360" y="6400800"/>
            <a:ext cx="822960" cy="274320"/>
          </a:xfrm>
          <a:prstGeom prst="rect">
            <a:avLst/>
          </a:prstGeom>
          <a:noFill/>
        </p:spPr>
        <p:txBody>
          <a:bodyPr wrap="square" anchor="t" lIns="45720" rIns="45720" tIns="27432" bIns="27432">
            <a:spAutoFit/>
          </a:bodyPr>
          <a:lstStyle/>
          <a:p>
            <a:pPr algn="r"/>
            <a:r>
              <a:rPr sz="1200" b="0" i="0">
                <a:solidFill>
                  <a:srgbClr val="5B6475"/>
                </a:solidFill>
                <a:latin typeface="Calibri"/>
              </a:rPr>
              <a:t>2 / 10</a:t>
            </a:r>
          </a:p>
        </p:txBody>
      </p:sp>
      <p:sp>
        <p:nvSpPr>
          <p:cNvPr id="4" name="TextBox 3"/>
          <p:cNvSpPr txBox="1"/>
          <p:nvPr/>
        </p:nvSpPr>
        <p:spPr>
          <a:xfrm>
            <a:off x="548640" y="1234440"/>
            <a:ext cx="11064240" cy="914400"/>
          </a:xfrm>
          <a:prstGeom prst="rect">
            <a:avLst/>
          </a:prstGeom>
          <a:noFill/>
        </p:spPr>
        <p:txBody>
          <a:bodyPr wrap="square" anchor="t" lIns="45720" rIns="45720" tIns="27432" bIns="27432">
            <a:spAutoFit/>
          </a:bodyPr>
          <a:lstStyle/>
          <a:p>
            <a:pPr algn="l"/>
            <a:r>
              <a:rPr sz="2200" b="0" i="0">
                <a:solidFill>
                  <a:srgbClr val="1B1F2A"/>
                </a:solidFill>
                <a:latin typeface="Calibri"/>
              </a:rPr>
              <a:t>A language model </a:t>
            </a:r>
            <a:r>
              <a:rPr sz="2200" b="1" i="0">
                <a:solidFill>
                  <a:srgbClr val="1B1F2A"/>
                </a:solidFill>
                <a:latin typeface="Calibri"/>
              </a:rPr>
              <a:t>predicts the next word</a:t>
            </a:r>
            <a:r>
              <a:rPr sz="2200" b="0" i="0">
                <a:solidFill>
                  <a:srgbClr val="1B1F2A"/>
                </a:solidFill>
                <a:latin typeface="Calibri"/>
              </a:rPr>
              <a:t>. It learns by adjusting millions of numbers called </a:t>
            </a:r>
            <a:r>
              <a:rPr sz="2200" b="1" i="0">
                <a:solidFill>
                  <a:srgbClr val="1B1F2A"/>
                </a:solidFill>
                <a:latin typeface="Calibri"/>
              </a:rPr>
              <a:t>weights</a:t>
            </a:r>
            <a:r>
              <a:rPr sz="2200" b="0" i="0">
                <a:solidFill>
                  <a:srgbClr val="1B1F2A"/>
                </a:solidFill>
                <a:latin typeface="Calibri"/>
              </a:rPr>
              <a:t>.</a:t>
            </a:r>
          </a:p>
        </p:txBody>
      </p:sp>
      <p:sp>
        <p:nvSpPr>
          <p:cNvPr id="5" name="Brain panel"/>
          <p:cNvSpPr/>
          <p:nvPr/>
        </p:nvSpPr>
        <p:spPr>
          <a:xfrm>
            <a:off x="548640" y="2286000"/>
            <a:ext cx="5394960" cy="3383280"/>
          </a:xfrm>
          <a:prstGeom prst="roundRect">
            <a:avLst>
              <a:gd name="adj" fmla="val 8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377440"/>
            <a:ext cx="5029200" cy="457200"/>
          </a:xfrm>
          <a:prstGeom prst="rect">
            <a:avLst/>
          </a:prstGeom>
          <a:noFill/>
        </p:spPr>
        <p:txBody>
          <a:bodyPr wrap="square" anchor="t" lIns="45720" rIns="45720" tIns="27432" bIns="27432">
            <a:spAutoFit/>
          </a:bodyPr>
          <a:lstStyle/>
          <a:p>
            <a:pPr algn="l"/>
            <a:r>
              <a:rPr sz="2200" b="1" i="0">
                <a:solidFill>
                  <a:srgbClr val="14213D"/>
                </a:solidFill>
                <a:latin typeface="Calibri"/>
              </a:rPr>
              <a:t>A brain: specialised regions</a:t>
            </a:r>
          </a:p>
        </p:txBody>
      </p:sp>
      <p:sp>
        <p:nvSpPr>
          <p:cNvPr id="7" name="Rounded Rectangle 6"/>
          <p:cNvSpPr/>
          <p:nvPr/>
        </p:nvSpPr>
        <p:spPr>
          <a:xfrm>
            <a:off x="914400" y="3017520"/>
            <a:ext cx="2286000" cy="1234440"/>
          </a:xfrm>
          <a:prstGeom prst="roundRect">
            <a:avLst>
              <a:gd name="adj" fmla="val 25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a:solidFill>
                  <a:srgbClr val="FFFFFF"/>
                </a:solidFill>
                <a:latin typeface="Calibri"/>
              </a:rPr>
              <a:t>Language</a:t>
            </a:r>
          </a:p>
        </p:txBody>
      </p:sp>
      <p:sp>
        <p:nvSpPr>
          <p:cNvPr id="8" name="Rounded Rectangle 7"/>
          <p:cNvSpPr/>
          <p:nvPr/>
        </p:nvSpPr>
        <p:spPr>
          <a:xfrm>
            <a:off x="3337560" y="3017520"/>
            <a:ext cx="2286000" cy="1234440"/>
          </a:xfrm>
          <a:prstGeom prst="roundRect">
            <a:avLst>
              <a:gd name="adj" fmla="val 25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a:solidFill>
                  <a:srgbClr val="FFFFFF"/>
                </a:solidFill>
                <a:latin typeface="Calibri"/>
              </a:rPr>
              <a:t>Vision</a:t>
            </a:r>
          </a:p>
        </p:txBody>
      </p:sp>
      <p:sp>
        <p:nvSpPr>
          <p:cNvPr id="9" name="Rounded Rectangle 8"/>
          <p:cNvSpPr/>
          <p:nvPr/>
        </p:nvSpPr>
        <p:spPr>
          <a:xfrm>
            <a:off x="914400" y="4389120"/>
            <a:ext cx="4709160" cy="1051560"/>
          </a:xfrm>
          <a:prstGeom prst="roundRect">
            <a:avLst>
              <a:gd name="adj" fmla="val 25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a:solidFill>
                  <a:srgbClr val="FFFFFF"/>
                </a:solidFill>
                <a:latin typeface="Calibri"/>
              </a:rPr>
              <a:t>Movement</a:t>
            </a:r>
          </a:p>
        </p:txBody>
      </p:sp>
      <p:sp>
        <p:nvSpPr>
          <p:cNvPr id="10" name="Model panel"/>
          <p:cNvSpPr/>
          <p:nvPr/>
        </p:nvSpPr>
        <p:spPr>
          <a:xfrm>
            <a:off x="6263640" y="2286000"/>
            <a:ext cx="5394960" cy="3383280"/>
          </a:xfrm>
          <a:prstGeom prst="roundRect">
            <a:avLst>
              <a:gd name="adj" fmla="val 8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2377440"/>
            <a:ext cx="5029200" cy="457200"/>
          </a:xfrm>
          <a:prstGeom prst="rect">
            <a:avLst/>
          </a:prstGeom>
          <a:noFill/>
        </p:spPr>
        <p:txBody>
          <a:bodyPr wrap="square" anchor="t" lIns="45720" rIns="45720" tIns="27432" bIns="27432">
            <a:spAutoFit/>
          </a:bodyPr>
          <a:lstStyle/>
          <a:p>
            <a:pPr algn="l"/>
            <a:r>
              <a:rPr sz="2200" b="1" i="0">
                <a:solidFill>
                  <a:srgbClr val="14213D"/>
                </a:solidFill>
                <a:latin typeface="Calibri"/>
              </a:rPr>
              <a:t>A language model: no regions</a:t>
            </a:r>
          </a:p>
        </p:txBody>
      </p:sp>
      <p:sp>
        <p:nvSpPr>
          <p:cNvPr id="12" name="Oval 11"/>
          <p:cNvSpPr/>
          <p:nvPr/>
        </p:nvSpPr>
        <p:spPr>
          <a:xfrm>
            <a:off x="8033329" y="3362361"/>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760933" y="4894953"/>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226609" y="3150105"/>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529376" y="3213995"/>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860532" y="3224889"/>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10915" y="4310147"/>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450013" y="4350250"/>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202859" y="3924331"/>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753065" y="4979978"/>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473426" y="4253527"/>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962442" y="4883184"/>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013842" y="4323293"/>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257587" y="4269663"/>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144054" y="4432575"/>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79856" y="3994996"/>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687979" y="5128507"/>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922200" y="4833471"/>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38994" y="3204640"/>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963170" y="5018084"/>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610550" y="4409600"/>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083154" y="3973348"/>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239782" y="4135289"/>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980294" y="3194960"/>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184033" y="5018862"/>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108549" y="3818027"/>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9215753" y="4060405"/>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900232" y="4101308"/>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838111" y="4688950"/>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9526219" y="5287737"/>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7852142" y="3899439"/>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8140333" y="5167842"/>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313960" y="3285200"/>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7545582" y="3674589"/>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681375" y="3911231"/>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910061" y="4044362"/>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7820943" y="3330533"/>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0527598" y="3653990"/>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1093188" y="4578224"/>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0960494" y="3362525"/>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7236613" y="4522889"/>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8777382" y="4364256"/>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7839837" y="3350536"/>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8243069" y="4312176"/>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9726466" y="4195933"/>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9562411" y="4708667"/>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10691751" y="4800530"/>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10222314" y="3914498"/>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8357895" y="4118281"/>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6825403" y="3171476"/>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8572651" y="3268816"/>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6780739" y="3018053"/>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9015914" y="5186816"/>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6655715" y="5016243"/>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8275281" y="4467780"/>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9319116" y="4101430"/>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0458113" y="5287752"/>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8756290" y="3730414"/>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7009833" y="3800785"/>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8748102" y="4599561"/>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6644609" y="5191473"/>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8208431" y="4595014"/>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10038851" y="3698953"/>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10524553" y="4609025"/>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8931771" y="5093799"/>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10102553" y="4235026"/>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8060260" y="3527393"/>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10260205" y="4888229"/>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10247494" y="3474532"/>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8179848" y="3083768"/>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10186485" y="4097060"/>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9735832" y="5204113"/>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10271690" y="4670590"/>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10947885" y="3851077"/>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7009693" y="4092122"/>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7481698" y="4444135"/>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10418855" y="4113596"/>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8126487" y="4487722"/>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7091641" y="3905712"/>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10001898" y="4110302"/>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8541704" y="4471055"/>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10235939" y="5238728"/>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8676705" y="4716824"/>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9884877" y="3406148"/>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6665172" y="4368116"/>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10262160" y="3351674"/>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11064738" y="4520035"/>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7257919" y="4270900"/>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6603729" y="5236974"/>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7012532" y="4730868"/>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8541170" y="5010324"/>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6667227" y="3503934"/>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7648703" y="4358115"/>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9051628" y="4924489"/>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10740163" y="3826270"/>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9597083" y="4880717"/>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8480303" y="5115430"/>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7141788" y="3364617"/>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6624333" y="4023645"/>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9348094" y="4791545"/>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7333808" y="4099924"/>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7093640" y="3158692"/>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8931549" y="4287260"/>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10616458" y="3147416"/>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7816685" y="4782908"/>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8625981" y="3081221"/>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8584756" y="4417758"/>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9336934" y="3473355"/>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8626766" y="4236610"/>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8882615" y="3583661"/>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10585555" y="5171344"/>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10799119" y="5058357"/>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10416843" y="3331009"/>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8349788" y="3739849"/>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7649162" y="3184674"/>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7936113" y="3297211"/>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10876329" y="4488464"/>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7198196" y="5035675"/>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7551955" y="5194944"/>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10624332" y="3389669"/>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10381956" y="3386631"/>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11128308" y="3940629"/>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7441854" y="3745669"/>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8227826" y="3790141"/>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8571872" y="3058855"/>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8927324" y="3692928"/>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7059069" y="5117321"/>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11024979" y="3257046"/>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7793612" y="5088404"/>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Oval 139"/>
          <p:cNvSpPr/>
          <p:nvPr/>
        </p:nvSpPr>
        <p:spPr>
          <a:xfrm>
            <a:off x="7786804" y="3313684"/>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10461118" y="4562795"/>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8412513" y="4244185"/>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9172807" y="4618674"/>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7826591" y="4845377"/>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8501955" y="3183058"/>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9467623" y="4850042"/>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9346353" y="3525944"/>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10522013" y="4054846"/>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Oval 148"/>
          <p:cNvSpPr/>
          <p:nvPr/>
        </p:nvSpPr>
        <p:spPr>
          <a:xfrm>
            <a:off x="11129386" y="3972520"/>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9408812" y="3116288"/>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7638991" y="3267726"/>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Oval 151"/>
          <p:cNvSpPr/>
          <p:nvPr/>
        </p:nvSpPr>
        <p:spPr>
          <a:xfrm>
            <a:off x="7747319" y="3431619"/>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9440987" y="4231582"/>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Oval 153"/>
          <p:cNvSpPr/>
          <p:nvPr/>
        </p:nvSpPr>
        <p:spPr>
          <a:xfrm>
            <a:off x="7876917" y="4160722"/>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Oval 154"/>
          <p:cNvSpPr/>
          <p:nvPr/>
        </p:nvSpPr>
        <p:spPr>
          <a:xfrm>
            <a:off x="7787156" y="4854730"/>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6708581" y="3059659"/>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Oval 156"/>
          <p:cNvSpPr/>
          <p:nvPr/>
        </p:nvSpPr>
        <p:spPr>
          <a:xfrm>
            <a:off x="9082550" y="3450617"/>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Oval 157"/>
          <p:cNvSpPr/>
          <p:nvPr/>
        </p:nvSpPr>
        <p:spPr>
          <a:xfrm>
            <a:off x="7672439" y="4039488"/>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Oval 158"/>
          <p:cNvSpPr/>
          <p:nvPr/>
        </p:nvSpPr>
        <p:spPr>
          <a:xfrm>
            <a:off x="10319503" y="4005477"/>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Oval 159"/>
          <p:cNvSpPr/>
          <p:nvPr/>
        </p:nvSpPr>
        <p:spPr>
          <a:xfrm>
            <a:off x="9058802" y="5049147"/>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Oval 160"/>
          <p:cNvSpPr/>
          <p:nvPr/>
        </p:nvSpPr>
        <p:spPr>
          <a:xfrm>
            <a:off x="7959215" y="3509424"/>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Oval 161"/>
          <p:cNvSpPr/>
          <p:nvPr/>
        </p:nvSpPr>
        <p:spPr>
          <a:xfrm>
            <a:off x="8120474" y="4920127"/>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Oval 162"/>
          <p:cNvSpPr/>
          <p:nvPr/>
        </p:nvSpPr>
        <p:spPr>
          <a:xfrm>
            <a:off x="9903558" y="3336917"/>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Oval 163"/>
          <p:cNvSpPr/>
          <p:nvPr/>
        </p:nvSpPr>
        <p:spPr>
          <a:xfrm>
            <a:off x="11072015" y="4930875"/>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Oval 164"/>
          <p:cNvSpPr/>
          <p:nvPr/>
        </p:nvSpPr>
        <p:spPr>
          <a:xfrm>
            <a:off x="6864538" y="4711192"/>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Oval 165"/>
          <p:cNvSpPr/>
          <p:nvPr/>
        </p:nvSpPr>
        <p:spPr>
          <a:xfrm>
            <a:off x="8526999" y="3144166"/>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10422704" y="5007569"/>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Oval 167"/>
          <p:cNvSpPr/>
          <p:nvPr/>
        </p:nvSpPr>
        <p:spPr>
          <a:xfrm>
            <a:off x="11021442" y="4386327"/>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Oval 168"/>
          <p:cNvSpPr/>
          <p:nvPr/>
        </p:nvSpPr>
        <p:spPr>
          <a:xfrm>
            <a:off x="7891222" y="4067829"/>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Oval 169"/>
          <p:cNvSpPr/>
          <p:nvPr/>
        </p:nvSpPr>
        <p:spPr>
          <a:xfrm>
            <a:off x="7780296" y="3025801"/>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Oval 170"/>
          <p:cNvSpPr/>
          <p:nvPr/>
        </p:nvSpPr>
        <p:spPr>
          <a:xfrm>
            <a:off x="10979220" y="5240936"/>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Oval 171"/>
          <p:cNvSpPr/>
          <p:nvPr/>
        </p:nvSpPr>
        <p:spPr>
          <a:xfrm>
            <a:off x="8031948" y="3096265"/>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Oval 172"/>
          <p:cNvSpPr/>
          <p:nvPr/>
        </p:nvSpPr>
        <p:spPr>
          <a:xfrm>
            <a:off x="7544003" y="3435761"/>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Oval 173"/>
          <p:cNvSpPr/>
          <p:nvPr/>
        </p:nvSpPr>
        <p:spPr>
          <a:xfrm>
            <a:off x="8300204" y="4102555"/>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Oval 174"/>
          <p:cNvSpPr/>
          <p:nvPr/>
        </p:nvSpPr>
        <p:spPr>
          <a:xfrm>
            <a:off x="9567266" y="3584858"/>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Oval 175"/>
          <p:cNvSpPr/>
          <p:nvPr/>
        </p:nvSpPr>
        <p:spPr>
          <a:xfrm>
            <a:off x="6957487" y="4885283"/>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Oval 176"/>
          <p:cNvSpPr/>
          <p:nvPr/>
        </p:nvSpPr>
        <p:spPr>
          <a:xfrm>
            <a:off x="8382790" y="3112770"/>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Oval 177"/>
          <p:cNvSpPr/>
          <p:nvPr/>
        </p:nvSpPr>
        <p:spPr>
          <a:xfrm>
            <a:off x="7921641" y="4456945"/>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Oval 178"/>
          <p:cNvSpPr/>
          <p:nvPr/>
        </p:nvSpPr>
        <p:spPr>
          <a:xfrm>
            <a:off x="9242019" y="4227247"/>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Oval 179"/>
          <p:cNvSpPr/>
          <p:nvPr/>
        </p:nvSpPr>
        <p:spPr>
          <a:xfrm>
            <a:off x="9574312" y="4654281"/>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Oval 180"/>
          <p:cNvSpPr/>
          <p:nvPr/>
        </p:nvSpPr>
        <p:spPr>
          <a:xfrm>
            <a:off x="8336637" y="3763064"/>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Oval 181"/>
          <p:cNvSpPr/>
          <p:nvPr/>
        </p:nvSpPr>
        <p:spPr>
          <a:xfrm>
            <a:off x="7228138" y="4672940"/>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Oval 182"/>
          <p:cNvSpPr/>
          <p:nvPr/>
        </p:nvSpPr>
        <p:spPr>
          <a:xfrm>
            <a:off x="7206385" y="4903143"/>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Oval 183"/>
          <p:cNvSpPr/>
          <p:nvPr/>
        </p:nvSpPr>
        <p:spPr>
          <a:xfrm>
            <a:off x="10656700" y="4451601"/>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Oval 184"/>
          <p:cNvSpPr/>
          <p:nvPr/>
        </p:nvSpPr>
        <p:spPr>
          <a:xfrm>
            <a:off x="9775227" y="4173186"/>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Oval 185"/>
          <p:cNvSpPr/>
          <p:nvPr/>
        </p:nvSpPr>
        <p:spPr>
          <a:xfrm>
            <a:off x="10014489" y="4317064"/>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Oval 186"/>
          <p:cNvSpPr/>
          <p:nvPr/>
        </p:nvSpPr>
        <p:spPr>
          <a:xfrm>
            <a:off x="10354085" y="4352684"/>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Oval 187"/>
          <p:cNvSpPr/>
          <p:nvPr/>
        </p:nvSpPr>
        <p:spPr>
          <a:xfrm>
            <a:off x="9691379" y="4602463"/>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Oval 188"/>
          <p:cNvSpPr/>
          <p:nvPr/>
        </p:nvSpPr>
        <p:spPr>
          <a:xfrm>
            <a:off x="6930889" y="3113216"/>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Oval 189"/>
          <p:cNvSpPr/>
          <p:nvPr/>
        </p:nvSpPr>
        <p:spPr>
          <a:xfrm>
            <a:off x="8203606" y="3257359"/>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Oval 190"/>
          <p:cNvSpPr/>
          <p:nvPr/>
        </p:nvSpPr>
        <p:spPr>
          <a:xfrm>
            <a:off x="9117082" y="4452595"/>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Oval 191"/>
          <p:cNvSpPr/>
          <p:nvPr/>
        </p:nvSpPr>
        <p:spPr>
          <a:xfrm>
            <a:off x="8992018" y="3576583"/>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Oval 192"/>
          <p:cNvSpPr/>
          <p:nvPr/>
        </p:nvSpPr>
        <p:spPr>
          <a:xfrm>
            <a:off x="6553264" y="4841056"/>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Oval 193"/>
          <p:cNvSpPr/>
          <p:nvPr/>
        </p:nvSpPr>
        <p:spPr>
          <a:xfrm>
            <a:off x="10844005" y="5070022"/>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Oval 194"/>
          <p:cNvSpPr/>
          <p:nvPr/>
        </p:nvSpPr>
        <p:spPr>
          <a:xfrm>
            <a:off x="9582420" y="3168511"/>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Oval 195"/>
          <p:cNvSpPr/>
          <p:nvPr/>
        </p:nvSpPr>
        <p:spPr>
          <a:xfrm>
            <a:off x="8726105" y="4867394"/>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Oval 196"/>
          <p:cNvSpPr/>
          <p:nvPr/>
        </p:nvSpPr>
        <p:spPr>
          <a:xfrm>
            <a:off x="7622134" y="4746745"/>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Oval 197"/>
          <p:cNvSpPr/>
          <p:nvPr/>
        </p:nvSpPr>
        <p:spPr>
          <a:xfrm>
            <a:off x="9954281" y="5248050"/>
            <a:ext cx="155448" cy="15544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Oval 198"/>
          <p:cNvSpPr/>
          <p:nvPr/>
        </p:nvSpPr>
        <p:spPr>
          <a:xfrm>
            <a:off x="10442386" y="3192947"/>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Oval 199"/>
          <p:cNvSpPr/>
          <p:nvPr/>
        </p:nvSpPr>
        <p:spPr>
          <a:xfrm>
            <a:off x="7864719" y="3124384"/>
            <a:ext cx="155448" cy="15544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Oval 200"/>
          <p:cNvSpPr/>
          <p:nvPr/>
        </p:nvSpPr>
        <p:spPr>
          <a:xfrm>
            <a:off x="9506059" y="3194620"/>
            <a:ext cx="155448" cy="15544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201"/>
          <p:cNvSpPr txBox="1"/>
          <p:nvPr/>
        </p:nvSpPr>
        <p:spPr>
          <a:xfrm>
            <a:off x="548640" y="5806440"/>
            <a:ext cx="11064240" cy="502920"/>
          </a:xfrm>
          <a:prstGeom prst="rect">
            <a:avLst/>
          </a:prstGeom>
          <a:noFill/>
        </p:spPr>
        <p:txBody>
          <a:bodyPr wrap="square" anchor="t" lIns="45720" rIns="45720" tIns="27432" bIns="27432">
            <a:spAutoFit/>
          </a:bodyPr>
          <a:lstStyle/>
          <a:p>
            <a:pPr algn="ctr"/>
            <a:r>
              <a:rPr sz="2000" b="0" i="0">
                <a:solidFill>
                  <a:srgbClr val="1B1F2A"/>
                </a:solidFill>
                <a:latin typeface="Calibri"/>
              </a:rPr>
              <a:t>Grammar, math and code are mixed across every weight.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20040"/>
            <a:ext cx="11064240" cy="822960"/>
          </a:xfrm>
          <a:prstGeom prst="rect">
            <a:avLst/>
          </a:prstGeom>
          <a:noFill/>
        </p:spPr>
        <p:txBody>
          <a:bodyPr wrap="square" anchor="ctr" lIns="45720" rIns="45720" tIns="27432" bIns="27432">
            <a:spAutoFit/>
          </a:bodyPr>
          <a:lstStyle/>
          <a:p>
            <a:pPr algn="l"/>
            <a:r>
              <a:rPr sz="3600" b="1" i="0">
                <a:solidFill>
                  <a:srgbClr val="14213D"/>
                </a:solidFill>
                <a:latin typeface="Cambria"/>
              </a:rPr>
              <a:t>Why the black box is a problem</a:t>
            </a:r>
          </a:p>
        </p:txBody>
      </p:sp>
      <p:sp>
        <p:nvSpPr>
          <p:cNvPr id="3" name="TextBox 2"/>
          <p:cNvSpPr txBox="1"/>
          <p:nvPr/>
        </p:nvSpPr>
        <p:spPr>
          <a:xfrm>
            <a:off x="10881360" y="6400800"/>
            <a:ext cx="822960" cy="274320"/>
          </a:xfrm>
          <a:prstGeom prst="rect">
            <a:avLst/>
          </a:prstGeom>
          <a:noFill/>
        </p:spPr>
        <p:txBody>
          <a:bodyPr wrap="square" anchor="t" lIns="45720" rIns="45720" tIns="27432" bIns="27432">
            <a:spAutoFit/>
          </a:bodyPr>
          <a:lstStyle/>
          <a:p>
            <a:pPr algn="r"/>
            <a:r>
              <a:rPr sz="1200" b="0" i="0">
                <a:solidFill>
                  <a:srgbClr val="5B6475"/>
                </a:solidFill>
                <a:latin typeface="Calibri"/>
              </a:rPr>
              <a:t>3 / 10</a:t>
            </a:r>
          </a:p>
        </p:txBody>
      </p:sp>
      <p:sp>
        <p:nvSpPr>
          <p:cNvPr id="4" name="Card 1"/>
          <p:cNvSpPr/>
          <p:nvPr/>
        </p:nvSpPr>
        <p:spPr>
          <a:xfrm>
            <a:off x="457200" y="1371600"/>
            <a:ext cx="3566160" cy="3383280"/>
          </a:xfrm>
          <a:prstGeom prst="roundRect">
            <a:avLst>
              <a:gd name="adj" fmla="val 8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645920"/>
            <a:ext cx="731520" cy="7315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800" b="1">
                <a:solidFill>
                  <a:srgbClr val="FFFFFF"/>
                </a:solidFill>
                <a:latin typeface="Calibri"/>
              </a:rPr>
              <a:t>1</a:t>
            </a:r>
          </a:p>
        </p:txBody>
      </p:sp>
      <p:sp>
        <p:nvSpPr>
          <p:cNvPr id="6" name="TextBox 5"/>
          <p:cNvSpPr txBox="1"/>
          <p:nvPr/>
        </p:nvSpPr>
        <p:spPr>
          <a:xfrm>
            <a:off x="731520" y="2560320"/>
            <a:ext cx="3017520" cy="457200"/>
          </a:xfrm>
          <a:prstGeom prst="rect">
            <a:avLst/>
          </a:prstGeom>
          <a:noFill/>
        </p:spPr>
        <p:txBody>
          <a:bodyPr wrap="square" anchor="t" lIns="45720" rIns="45720" tIns="27432" bIns="27432">
            <a:spAutoFit/>
          </a:bodyPr>
          <a:lstStyle/>
          <a:p>
            <a:pPr algn="l"/>
            <a:r>
              <a:rPr sz="2400" b="1" i="0">
                <a:solidFill>
                  <a:srgbClr val="14213D"/>
                </a:solidFill>
                <a:latin typeface="Calibri"/>
              </a:rPr>
              <a:t>Can't explain</a:t>
            </a:r>
          </a:p>
        </p:txBody>
      </p:sp>
      <p:sp>
        <p:nvSpPr>
          <p:cNvPr id="7" name="TextBox 6"/>
          <p:cNvSpPr txBox="1"/>
          <p:nvPr/>
        </p:nvSpPr>
        <p:spPr>
          <a:xfrm>
            <a:off x="731520" y="3108960"/>
            <a:ext cx="3017520" cy="1554480"/>
          </a:xfrm>
          <a:prstGeom prst="rect">
            <a:avLst/>
          </a:prstGeom>
          <a:noFill/>
        </p:spPr>
        <p:txBody>
          <a:bodyPr wrap="square" anchor="t" lIns="45720" rIns="45720" tIns="27432" bIns="27432">
            <a:spAutoFit/>
          </a:bodyPr>
          <a:lstStyle/>
          <a:p>
            <a:pPr algn="l"/>
            <a:r>
              <a:rPr sz="1800" b="0" i="0">
                <a:solidFill>
                  <a:srgbClr val="1B1F2A"/>
                </a:solidFill>
                <a:latin typeface="Calibri"/>
              </a:rPr>
              <a:t>We cannot point to where an answer came from.</a:t>
            </a:r>
          </a:p>
        </p:txBody>
      </p:sp>
      <p:sp>
        <p:nvSpPr>
          <p:cNvPr id="8" name="Card 2"/>
          <p:cNvSpPr/>
          <p:nvPr/>
        </p:nvSpPr>
        <p:spPr>
          <a:xfrm>
            <a:off x="4297680" y="1371600"/>
            <a:ext cx="3566160" cy="3383280"/>
          </a:xfrm>
          <a:prstGeom prst="roundRect">
            <a:avLst>
              <a:gd name="adj" fmla="val 8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72000" y="1645920"/>
            <a:ext cx="731520" cy="73152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800" b="1">
                <a:solidFill>
                  <a:srgbClr val="FFFFFF"/>
                </a:solidFill>
                <a:latin typeface="Calibri"/>
              </a:rPr>
              <a:t>2</a:t>
            </a:r>
          </a:p>
        </p:txBody>
      </p:sp>
      <p:sp>
        <p:nvSpPr>
          <p:cNvPr id="10" name="TextBox 9"/>
          <p:cNvSpPr txBox="1"/>
          <p:nvPr/>
        </p:nvSpPr>
        <p:spPr>
          <a:xfrm>
            <a:off x="4572000" y="2560320"/>
            <a:ext cx="3017520" cy="457200"/>
          </a:xfrm>
          <a:prstGeom prst="rect">
            <a:avLst/>
          </a:prstGeom>
          <a:noFill/>
        </p:spPr>
        <p:txBody>
          <a:bodyPr wrap="square" anchor="t" lIns="45720" rIns="45720" tIns="27432" bIns="27432">
            <a:spAutoFit/>
          </a:bodyPr>
          <a:lstStyle/>
          <a:p>
            <a:pPr algn="l"/>
            <a:r>
              <a:rPr sz="2400" b="1" i="0">
                <a:solidFill>
                  <a:srgbClr val="14213D"/>
                </a:solidFill>
                <a:latin typeface="Calibri"/>
              </a:rPr>
              <a:t>Can't delete a skill</a:t>
            </a:r>
          </a:p>
        </p:txBody>
      </p:sp>
      <p:sp>
        <p:nvSpPr>
          <p:cNvPr id="11" name="TextBox 10"/>
          <p:cNvSpPr txBox="1"/>
          <p:nvPr/>
        </p:nvSpPr>
        <p:spPr>
          <a:xfrm>
            <a:off x="4572000" y="3108960"/>
            <a:ext cx="3017520" cy="1554480"/>
          </a:xfrm>
          <a:prstGeom prst="rect">
            <a:avLst/>
          </a:prstGeom>
          <a:noFill/>
        </p:spPr>
        <p:txBody>
          <a:bodyPr wrap="square" anchor="t" lIns="45720" rIns="45720" tIns="27432" bIns="27432">
            <a:spAutoFit/>
          </a:bodyPr>
          <a:lstStyle/>
          <a:p>
            <a:pPr algn="l"/>
            <a:r>
              <a:rPr sz="1800" b="0" i="0">
                <a:solidFill>
                  <a:srgbClr val="1B1F2A"/>
                </a:solidFill>
                <a:latin typeface="Calibri"/>
              </a:rPr>
              <a:t>Unlearning: removing one skill, such as unsafe knowledge, without starting over.</a:t>
            </a:r>
          </a:p>
        </p:txBody>
      </p:sp>
      <p:sp>
        <p:nvSpPr>
          <p:cNvPr id="12" name="Card 3"/>
          <p:cNvSpPr/>
          <p:nvPr/>
        </p:nvSpPr>
        <p:spPr>
          <a:xfrm>
            <a:off x="8138160" y="1371600"/>
            <a:ext cx="3566160" cy="3383280"/>
          </a:xfrm>
          <a:prstGeom prst="roundRect">
            <a:avLst>
              <a:gd name="adj" fmla="val 8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412480" y="1645920"/>
            <a:ext cx="731520" cy="731520"/>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800" b="1">
                <a:solidFill>
                  <a:srgbClr val="FFFFFF"/>
                </a:solidFill>
                <a:latin typeface="Calibri"/>
              </a:rPr>
              <a:t>3</a:t>
            </a:r>
          </a:p>
        </p:txBody>
      </p:sp>
      <p:sp>
        <p:nvSpPr>
          <p:cNvPr id="14" name="TextBox 13"/>
          <p:cNvSpPr txBox="1"/>
          <p:nvPr/>
        </p:nvSpPr>
        <p:spPr>
          <a:xfrm>
            <a:off x="8412480" y="2560320"/>
            <a:ext cx="3017520" cy="457200"/>
          </a:xfrm>
          <a:prstGeom prst="rect">
            <a:avLst/>
          </a:prstGeom>
          <a:noFill/>
        </p:spPr>
        <p:txBody>
          <a:bodyPr wrap="square" anchor="t" lIns="45720" rIns="45720" tIns="27432" bIns="27432">
            <a:spAutoFit/>
          </a:bodyPr>
          <a:lstStyle/>
          <a:p>
            <a:pPr algn="l"/>
            <a:r>
              <a:rPr sz="2400" b="1" i="0">
                <a:solidFill>
                  <a:srgbClr val="14213D"/>
                </a:solidFill>
                <a:latin typeface="Calibri"/>
              </a:rPr>
              <a:t>Forgets old skills</a:t>
            </a:r>
          </a:p>
        </p:txBody>
      </p:sp>
      <p:sp>
        <p:nvSpPr>
          <p:cNvPr id="15" name="TextBox 14"/>
          <p:cNvSpPr txBox="1"/>
          <p:nvPr/>
        </p:nvSpPr>
        <p:spPr>
          <a:xfrm>
            <a:off x="8412480" y="3108960"/>
            <a:ext cx="3017520" cy="1554480"/>
          </a:xfrm>
          <a:prstGeom prst="rect">
            <a:avLst/>
          </a:prstGeom>
          <a:noFill/>
        </p:spPr>
        <p:txBody>
          <a:bodyPr wrap="square" anchor="t" lIns="45720" rIns="45720" tIns="27432" bIns="27432">
            <a:spAutoFit/>
          </a:bodyPr>
          <a:lstStyle/>
          <a:p>
            <a:pPr algn="l"/>
            <a:r>
              <a:rPr sz="1800" b="0" i="0">
                <a:solidFill>
                  <a:srgbClr val="1B1F2A"/>
                </a:solidFill>
                <a:latin typeface="Calibri"/>
              </a:rPr>
              <a:t>Catastrophic forgetting: learning something new overwrites old knowledge.</a:t>
            </a:r>
          </a:p>
        </p:txBody>
      </p:sp>
      <p:sp>
        <p:nvSpPr>
          <p:cNvPr id="16" name="Research question"/>
          <p:cNvSpPr/>
          <p:nvPr/>
        </p:nvSpPr>
        <p:spPr>
          <a:xfrm>
            <a:off x="457200" y="5120640"/>
            <a:ext cx="11247120" cy="1097280"/>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600" b="1">
                <a:solidFill>
                  <a:srgbClr val="FFFFFF"/>
                </a:solidFill>
                <a:latin typeface="Calibri"/>
              </a:rPr>
              <a:t>Research question: can a model organise its own “brain regions” while it trains?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20040"/>
            <a:ext cx="11064240" cy="822960"/>
          </a:xfrm>
          <a:prstGeom prst="rect">
            <a:avLst/>
          </a:prstGeom>
          <a:noFill/>
        </p:spPr>
        <p:txBody>
          <a:bodyPr wrap="square" anchor="ctr" lIns="45720" rIns="45720" tIns="27432" bIns="27432">
            <a:spAutoFit/>
          </a:bodyPr>
          <a:lstStyle/>
          <a:p>
            <a:pPr algn="l"/>
            <a:r>
              <a:rPr sz="3600" b="1" i="0">
                <a:solidFill>
                  <a:srgbClr val="14213D"/>
                </a:solidFill>
                <a:latin typeface="Cambria"/>
              </a:rPr>
              <a:t>How our work differs from existing research</a:t>
            </a:r>
          </a:p>
        </p:txBody>
      </p:sp>
      <p:sp>
        <p:nvSpPr>
          <p:cNvPr id="3" name="TextBox 2"/>
          <p:cNvSpPr txBox="1"/>
          <p:nvPr/>
        </p:nvSpPr>
        <p:spPr>
          <a:xfrm>
            <a:off x="10881360" y="6400800"/>
            <a:ext cx="822960" cy="274320"/>
          </a:xfrm>
          <a:prstGeom prst="rect">
            <a:avLst/>
          </a:prstGeom>
          <a:noFill/>
        </p:spPr>
        <p:txBody>
          <a:bodyPr wrap="square" anchor="t" lIns="45720" rIns="45720" tIns="27432" bIns="27432">
            <a:spAutoFit/>
          </a:bodyPr>
          <a:lstStyle/>
          <a:p>
            <a:pPr algn="r"/>
            <a:r>
              <a:rPr sz="1200" b="0" i="0">
                <a:solidFill>
                  <a:srgbClr val="5B6475"/>
                </a:solidFill>
                <a:latin typeface="Calibri"/>
              </a:rPr>
              <a:t>4 / 10</a:t>
            </a:r>
          </a:p>
        </p:txBody>
      </p:sp>
      <p:graphicFrame>
        <p:nvGraphicFramePr>
          <p:cNvPr id="4" name="Table 3"/>
          <p:cNvGraphicFramePr>
            <a:graphicFrameLocks noGrp="1"/>
          </p:cNvGraphicFramePr>
          <p:nvPr/>
        </p:nvGraphicFramePr>
        <p:xfrm>
          <a:off x="457200" y="1325880"/>
          <a:ext cx="11247120" cy="3611880"/>
        </p:xfrm>
        <a:graphic>
          <a:graphicData uri="http://schemas.openxmlformats.org/drawingml/2006/table">
            <a:tbl>
              <a:tblPr firstRow="1" bandRow="1">
                <a:tableStyleId>{5C22544A-7EE6-4342-B048-85BDC9FD1C3A}</a:tableStyleId>
              </a:tblPr>
              <a:tblGrid>
                <a:gridCol w="2834640"/>
                <a:gridCol w="3200400"/>
                <a:gridCol w="2926080"/>
                <a:gridCol w="2286000"/>
              </a:tblGrid>
              <a:tr h="502920">
                <a:tc>
                  <a:txBody>
                    <a:bodyPr wrap="square"/>
                    <a:lstStyle/>
                    <a:p>
                      <a:r>
                        <a:rPr sz="1600" b="1">
                          <a:solidFill>
                            <a:srgbClr val="FFFFFF"/>
                          </a:solidFill>
                          <a:latin typeface="Calibri"/>
                        </a:rPr>
                        <a:t>Approach</a:t>
                      </a:r>
                    </a:p>
                  </a:txBody>
                  <a:tcPr anchor="ctr" marL="91440" marR="91440">
                    <a:solidFill>
                      <a:srgbClr val="14213D"/>
                    </a:solidFill>
                  </a:tcPr>
                </a:tc>
                <a:tc>
                  <a:txBody>
                    <a:bodyPr wrap="square"/>
                    <a:lstStyle/>
                    <a:p>
                      <a:r>
                        <a:rPr sz="1600" b="1">
                          <a:solidFill>
                            <a:srgbClr val="FFFFFF"/>
                          </a:solidFill>
                          <a:latin typeface="Calibri"/>
                        </a:rPr>
                        <a:t>What decides the regions?</a:t>
                      </a:r>
                    </a:p>
                  </a:txBody>
                  <a:tcPr anchor="ctr" marL="91440" marR="91440">
                    <a:solidFill>
                      <a:srgbClr val="14213D"/>
                    </a:solidFill>
                  </a:tcPr>
                </a:tc>
                <a:tc>
                  <a:txBody>
                    <a:bodyPr wrap="square"/>
                    <a:lstStyle/>
                    <a:p>
                      <a:r>
                        <a:rPr sz="1600" b="1">
                          <a:solidFill>
                            <a:srgbClr val="FFFFFF"/>
                          </a:solidFill>
                          <a:latin typeface="Calibri"/>
                        </a:rPr>
                        <a:t>Goal</a:t>
                      </a:r>
                    </a:p>
                  </a:txBody>
                  <a:tcPr anchor="ctr" marL="91440" marR="91440">
                    <a:solidFill>
                      <a:srgbClr val="14213D"/>
                    </a:solidFill>
                  </a:tcPr>
                </a:tc>
                <a:tc>
                  <a:txBody>
                    <a:bodyPr wrap="square"/>
                    <a:lstStyle/>
                    <a:p>
                      <a:r>
                        <a:rPr sz="1600" b="1">
                          <a:solidFill>
                            <a:srgbClr val="FFFFFF"/>
                          </a:solidFill>
                          <a:latin typeface="Calibri"/>
                        </a:rPr>
                        <a:t>Needs human labels?</a:t>
                      </a:r>
                    </a:p>
                  </a:txBody>
                  <a:tcPr anchor="ctr" marL="91440" marR="91440">
                    <a:solidFill>
                      <a:srgbClr val="14213D"/>
                    </a:solidFill>
                  </a:tcPr>
                </a:tc>
              </a:tr>
              <a:tr h="777240">
                <a:tc>
                  <a:txBody>
                    <a:bodyPr wrap="square"/>
                    <a:lstStyle/>
                    <a:p>
                      <a:r>
                        <a:rPr sz="1600" b="1">
                          <a:solidFill>
                            <a:srgbClr val="1B1F2A"/>
                          </a:solidFill>
                          <a:latin typeface="Calibri"/>
                        </a:rPr>
                        <a:t>Mixture of Experts</a:t>
                      </a:r>
                    </a:p>
                    <a:p>
                      <a:r>
                        <a:rPr sz="1400" b="0">
                          <a:solidFill>
                            <a:srgbClr val="5B6475"/>
                          </a:solidFill>
                          <a:latin typeface="Calibri"/>
                        </a:rPr>
                        <a:t>(Switch Transformer, Mixtral)</a:t>
                      </a:r>
                    </a:p>
                  </a:txBody>
                  <a:tcPr anchor="ctr" marL="91440" marR="91440">
                    <a:solidFill>
                      <a:srgbClr val="FFFFFF"/>
                    </a:solidFill>
                  </a:tcPr>
                </a:tc>
                <a:tc>
                  <a:txBody>
                    <a:bodyPr wrap="square"/>
                    <a:lstStyle/>
                    <a:p>
                      <a:r>
                        <a:rPr sz="1600" b="0">
                          <a:solidFill>
                            <a:srgbClr val="1B1F2A"/>
                          </a:solidFill>
                          <a:latin typeface="Calibri"/>
                        </a:rPr>
                        <a:t>A learned router, word by word</a:t>
                      </a:r>
                    </a:p>
                  </a:txBody>
                  <a:tcPr anchor="ctr" marL="91440" marR="91440">
                    <a:solidFill>
                      <a:srgbClr val="FFFFFF"/>
                    </a:solidFill>
                  </a:tcPr>
                </a:tc>
                <a:tc>
                  <a:txBody>
                    <a:bodyPr wrap="square"/>
                    <a:lstStyle/>
                    <a:p>
                      <a:r>
                        <a:rPr sz="1600" b="0">
                          <a:solidFill>
                            <a:srgbClr val="1B1F2A"/>
                          </a:solidFill>
                          <a:latin typeface="Calibri"/>
                        </a:rPr>
                        <a:t>Cheaper computing at large scale</a:t>
                      </a:r>
                    </a:p>
                  </a:txBody>
                  <a:tcPr anchor="ctr" marL="91440" marR="91440">
                    <a:solidFill>
                      <a:srgbClr val="FFFFFF"/>
                    </a:solidFill>
                  </a:tcPr>
                </a:tc>
                <a:tc>
                  <a:txBody>
                    <a:bodyPr wrap="square"/>
                    <a:lstStyle/>
                    <a:p>
                      <a:r>
                        <a:rPr sz="1600" b="0">
                          <a:solidFill>
                            <a:srgbClr val="1B1F2A"/>
                          </a:solidFill>
                          <a:latin typeface="Calibri"/>
                        </a:rPr>
                        <a:t>No</a:t>
                      </a:r>
                    </a:p>
                  </a:txBody>
                  <a:tcPr anchor="ctr" marL="91440" marR="91440">
                    <a:solidFill>
                      <a:srgbClr val="FFFFFF"/>
                    </a:solidFill>
                  </a:tcPr>
                </a:tc>
              </a:tr>
              <a:tr h="777240">
                <a:tc>
                  <a:txBody>
                    <a:bodyPr wrap="square"/>
                    <a:lstStyle/>
                    <a:p>
                      <a:r>
                        <a:rPr sz="1600" b="1">
                          <a:solidFill>
                            <a:srgbClr val="1B1F2A"/>
                          </a:solidFill>
                          <a:latin typeface="Calibri"/>
                        </a:rPr>
                        <a:t>Gradient Routing</a:t>
                      </a:r>
                    </a:p>
                    <a:p>
                      <a:r>
                        <a:rPr sz="1400" b="0">
                          <a:solidFill>
                            <a:srgbClr val="5B6475"/>
                          </a:solidFill>
                          <a:latin typeface="Calibri"/>
                        </a:rPr>
                        <a:t>(Cloud et al., 2024)</a:t>
                      </a:r>
                    </a:p>
                  </a:txBody>
                  <a:tcPr anchor="ctr" marL="91440" marR="91440">
                    <a:solidFill>
                      <a:srgbClr val="F2F4F8"/>
                    </a:solidFill>
                  </a:tcPr>
                </a:tc>
                <a:tc>
                  <a:txBody>
                    <a:bodyPr wrap="square"/>
                    <a:lstStyle/>
                    <a:p>
                      <a:r>
                        <a:rPr sz="1600" b="0">
                          <a:solidFill>
                            <a:srgbClr val="1B1F2A"/>
                          </a:solidFill>
                          <a:latin typeface="Calibri"/>
                        </a:rPr>
                        <a:t>Humans assign data to regions</a:t>
                      </a:r>
                    </a:p>
                  </a:txBody>
                  <a:tcPr anchor="ctr" marL="91440" marR="91440">
                    <a:solidFill>
                      <a:srgbClr val="F2F4F8"/>
                    </a:solidFill>
                  </a:tcPr>
                </a:tc>
                <a:tc>
                  <a:txBody>
                    <a:bodyPr wrap="square"/>
                    <a:lstStyle/>
                    <a:p>
                      <a:r>
                        <a:rPr sz="1600" b="0">
                          <a:solidFill>
                            <a:srgbClr val="1B1F2A"/>
                          </a:solidFill>
                          <a:latin typeface="Calibri"/>
                        </a:rPr>
                        <a:t>Localise a skill, remove it later</a:t>
                      </a:r>
                    </a:p>
                  </a:txBody>
                  <a:tcPr anchor="ctr" marL="91440" marR="91440">
                    <a:solidFill>
                      <a:srgbClr val="F2F4F8"/>
                    </a:solidFill>
                  </a:tcPr>
                </a:tc>
                <a:tc>
                  <a:txBody>
                    <a:bodyPr wrap="square"/>
                    <a:lstStyle/>
                    <a:p>
                      <a:r>
                        <a:rPr sz="1600" b="0">
                          <a:solidFill>
                            <a:srgbClr val="1B1F2A"/>
                          </a:solidFill>
                          <a:latin typeface="Calibri"/>
                        </a:rPr>
                        <a:t>Yes</a:t>
                      </a:r>
                    </a:p>
                  </a:txBody>
                  <a:tcPr anchor="ctr" marL="91440" marR="91440">
                    <a:solidFill>
                      <a:srgbClr val="F2F4F8"/>
                    </a:solidFill>
                  </a:tcPr>
                </a:tc>
              </a:tr>
              <a:tr h="777240">
                <a:tc>
                  <a:txBody>
                    <a:bodyPr wrap="square"/>
                    <a:lstStyle/>
                    <a:p>
                      <a:r>
                        <a:rPr sz="1600" b="1">
                          <a:solidFill>
                            <a:srgbClr val="1B1F2A"/>
                          </a:solidFill>
                          <a:latin typeface="Calibri"/>
                        </a:rPr>
                        <a:t>EWC</a:t>
                      </a:r>
                    </a:p>
                    <a:p>
                      <a:r>
                        <a:rPr sz="1400" b="0">
                          <a:solidFill>
                            <a:srgbClr val="5B6475"/>
                          </a:solidFill>
                          <a:latin typeface="Calibri"/>
                        </a:rPr>
                        <a:t>(Kirkpatrick et al., 2017)</a:t>
                      </a:r>
                    </a:p>
                  </a:txBody>
                  <a:tcPr anchor="ctr" marL="91440" marR="91440">
                    <a:solidFill>
                      <a:srgbClr val="FFFFFF"/>
                    </a:solidFill>
                  </a:tcPr>
                </a:tc>
                <a:tc>
                  <a:txBody>
                    <a:bodyPr wrap="square"/>
                    <a:lstStyle/>
                    <a:p>
                      <a:r>
                        <a:rPr sz="1600" b="0">
                          <a:solidFill>
                            <a:srgbClr val="1B1F2A"/>
                          </a:solidFill>
                          <a:latin typeface="Calibri"/>
                        </a:rPr>
                        <a:t>An importance score for each weight</a:t>
                      </a:r>
                    </a:p>
                  </a:txBody>
                  <a:tcPr anchor="ctr" marL="91440" marR="91440">
                    <a:solidFill>
                      <a:srgbClr val="FFFFFF"/>
                    </a:solidFill>
                  </a:tcPr>
                </a:tc>
                <a:tc>
                  <a:txBody>
                    <a:bodyPr wrap="square"/>
                    <a:lstStyle/>
                    <a:p>
                      <a:r>
                        <a:rPr sz="1600" b="0">
                          <a:solidFill>
                            <a:srgbClr val="1B1F2A"/>
                          </a:solidFill>
                          <a:latin typeface="Calibri"/>
                        </a:rPr>
                        <a:t>Don't forget old tasks</a:t>
                      </a:r>
                    </a:p>
                  </a:txBody>
                  <a:tcPr anchor="ctr" marL="91440" marR="91440">
                    <a:solidFill>
                      <a:srgbClr val="FFFFFF"/>
                    </a:solidFill>
                  </a:tcPr>
                </a:tc>
                <a:tc>
                  <a:txBody>
                    <a:bodyPr wrap="square"/>
                    <a:lstStyle/>
                    <a:p>
                      <a:r>
                        <a:rPr sz="1600" b="0">
                          <a:solidFill>
                            <a:srgbClr val="1B1F2A"/>
                          </a:solidFill>
                          <a:latin typeface="Calibri"/>
                        </a:rPr>
                        <a:t>Task boundaries</a:t>
                      </a:r>
                    </a:p>
                  </a:txBody>
                  <a:tcPr anchor="ctr" marL="91440" marR="91440">
                    <a:solidFill>
                      <a:srgbClr val="FFFFFF"/>
                    </a:solidFill>
                  </a:tcPr>
                </a:tc>
              </a:tr>
              <a:tr h="777240">
                <a:tc>
                  <a:txBody>
                    <a:bodyPr wrap="square"/>
                    <a:lstStyle/>
                    <a:p>
                      <a:r>
                        <a:rPr sz="1600" b="1">
                          <a:solidFill>
                            <a:srgbClr val="1B1F2A"/>
                          </a:solidFill>
                          <a:latin typeface="Calibri"/>
                        </a:rPr>
                        <a:t>Ours</a:t>
                      </a:r>
                    </a:p>
                  </a:txBody>
                  <a:tcPr anchor="ctr" marL="91440" marR="91440">
                    <a:solidFill>
                      <a:srgbClr val="DCEBFA"/>
                    </a:solidFill>
                  </a:tcPr>
                </a:tc>
                <a:tc>
                  <a:txBody>
                    <a:bodyPr wrap="square"/>
                    <a:lstStyle/>
                    <a:p>
                      <a:r>
                        <a:rPr sz="1600" b="1">
                          <a:solidFill>
                            <a:srgbClr val="1B1F2A"/>
                          </a:solidFill>
                          <a:latin typeface="Calibri"/>
                        </a:rPr>
                        <a:t>The model's own activity</a:t>
                      </a:r>
                    </a:p>
                  </a:txBody>
                  <a:tcPr anchor="ctr" marL="91440" marR="91440">
                    <a:solidFill>
                      <a:srgbClr val="DCEBFA"/>
                    </a:solidFill>
                  </a:tcPr>
                </a:tc>
                <a:tc>
                  <a:txBody>
                    <a:bodyPr wrap="square"/>
                    <a:lstStyle/>
                    <a:p>
                      <a:r>
                        <a:rPr sz="1600" b="1">
                          <a:solidFill>
                            <a:srgbClr val="1B1F2A"/>
                          </a:solidFill>
                          <a:latin typeface="Calibri"/>
                        </a:rPr>
                        <a:t>Self-organised regions we can switch off</a:t>
                      </a:r>
                    </a:p>
                  </a:txBody>
                  <a:tcPr anchor="ctr" marL="91440" marR="91440">
                    <a:solidFill>
                      <a:srgbClr val="DCEBFA"/>
                    </a:solidFill>
                  </a:tcPr>
                </a:tc>
                <a:tc>
                  <a:txBody>
                    <a:bodyPr wrap="square"/>
                    <a:lstStyle/>
                    <a:p>
                      <a:r>
                        <a:rPr sz="1600" b="1">
                          <a:solidFill>
                            <a:srgbClr val="1B1F2A"/>
                          </a:solidFill>
                          <a:latin typeface="Calibri"/>
                        </a:rPr>
                        <a:t>No</a:t>
                      </a:r>
                    </a:p>
                  </a:txBody>
                  <a:tcPr anchor="ctr" marL="91440" marR="91440">
                    <a:solidFill>
                      <a:srgbClr val="DCEBFA"/>
                    </a:solidFill>
                  </a:tcPr>
                </a:tc>
              </a:tr>
            </a:tbl>
          </a:graphicData>
        </a:graphic>
      </p:graphicFrame>
      <p:sp>
        <p:nvSpPr>
          <p:cNvPr id="5" name="Gap"/>
          <p:cNvSpPr/>
          <p:nvPr/>
        </p:nvSpPr>
        <p:spPr>
          <a:xfrm>
            <a:off x="457200" y="5212080"/>
            <a:ext cx="11247120" cy="1005840"/>
          </a:xfrm>
          <a:prstGeom prst="roundRect">
            <a:avLst>
              <a:gd name="adj" fmla="val 8000"/>
            </a:avLst>
          </a:prstGeom>
          <a:solidFill>
            <a:srgbClr val="F2B1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200" b="1">
                <a:solidFill>
                  <a:srgbClr val="14213D"/>
                </a:solidFill>
                <a:latin typeface="Calibri"/>
              </a:rPr>
              <a:t>The gap: Gradient Routing needs humans to assign data to regions. Ours lets the model decide.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20040"/>
            <a:ext cx="11064240" cy="822960"/>
          </a:xfrm>
          <a:prstGeom prst="rect">
            <a:avLst/>
          </a:prstGeom>
          <a:noFill/>
        </p:spPr>
        <p:txBody>
          <a:bodyPr wrap="square" anchor="ctr" lIns="45720" rIns="45720" tIns="27432" bIns="27432">
            <a:spAutoFit/>
          </a:bodyPr>
          <a:lstStyle/>
          <a:p>
            <a:pPr algn="l"/>
            <a:r>
              <a:rPr sz="3600" b="1" i="0">
                <a:solidFill>
                  <a:srgbClr val="14213D"/>
                </a:solidFill>
                <a:latin typeface="Cambria"/>
              </a:rPr>
              <a:t>Our idea: the most active blocks learn</a:t>
            </a:r>
          </a:p>
        </p:txBody>
      </p:sp>
      <p:sp>
        <p:nvSpPr>
          <p:cNvPr id="3" name="TextBox 2"/>
          <p:cNvSpPr txBox="1"/>
          <p:nvPr/>
        </p:nvSpPr>
        <p:spPr>
          <a:xfrm>
            <a:off x="10881360" y="6400800"/>
            <a:ext cx="822960" cy="274320"/>
          </a:xfrm>
          <a:prstGeom prst="rect">
            <a:avLst/>
          </a:prstGeom>
          <a:noFill/>
        </p:spPr>
        <p:txBody>
          <a:bodyPr wrap="square" anchor="t" lIns="45720" rIns="45720" tIns="27432" bIns="27432">
            <a:spAutoFit/>
          </a:bodyPr>
          <a:lstStyle/>
          <a:p>
            <a:pPr algn="r"/>
            <a:r>
              <a:rPr sz="1200" b="0" i="0">
                <a:solidFill>
                  <a:srgbClr val="5B6475"/>
                </a:solidFill>
                <a:latin typeface="Calibri"/>
              </a:rPr>
              <a:t>5 / 10</a:t>
            </a:r>
          </a:p>
        </p:txBody>
      </p:sp>
      <p:sp>
        <p:nvSpPr>
          <p:cNvPr id="4" name="TextBox 3"/>
          <p:cNvSpPr txBox="1"/>
          <p:nvPr/>
        </p:nvSpPr>
        <p:spPr>
          <a:xfrm>
            <a:off x="548640" y="1188720"/>
            <a:ext cx="11064240" cy="731520"/>
          </a:xfrm>
          <a:prstGeom prst="rect">
            <a:avLst/>
          </a:prstGeom>
          <a:noFill/>
        </p:spPr>
        <p:txBody>
          <a:bodyPr wrap="square" anchor="t" lIns="45720" rIns="45720" tIns="27432" bIns="27432">
            <a:spAutoFit/>
          </a:bodyPr>
          <a:lstStyle/>
          <a:p>
            <a:pPr algn="l"/>
            <a:r>
              <a:rPr sz="2200" b="0" i="0">
                <a:solidFill>
                  <a:srgbClr val="1B1F2A"/>
                </a:solidFill>
                <a:latin typeface="Calibri"/>
              </a:rPr>
              <a:t>Inside every layer, the </a:t>
            </a:r>
            <a:r>
              <a:rPr sz="2200" b="1" i="0">
                <a:solidFill>
                  <a:srgbClr val="1B1F2A"/>
                </a:solidFill>
                <a:latin typeface="Calibri"/>
              </a:rPr>
              <a:t>MLP</a:t>
            </a:r>
            <a:r>
              <a:rPr sz="2200" b="0" i="0">
                <a:solidFill>
                  <a:srgbClr val="1B1F2A"/>
                </a:solidFill>
                <a:latin typeface="Calibri"/>
              </a:rPr>
              <a:t> (the part that stores knowledge) is cut into </a:t>
            </a:r>
            <a:r>
              <a:rPr sz="2200" b="1" i="0">
                <a:solidFill>
                  <a:srgbClr val="1B1F2A"/>
                </a:solidFill>
                <a:latin typeface="Calibri"/>
              </a:rPr>
              <a:t>8 blocks</a:t>
            </a:r>
            <a:r>
              <a:rPr sz="2200" b="0" i="0">
                <a:solidFill>
                  <a:srgbClr val="1B1F2A"/>
                </a:solidFill>
                <a:latin typeface="Calibri"/>
              </a:rPr>
              <a:t>.</a:t>
            </a:r>
          </a:p>
        </p:txBody>
      </p:sp>
      <p:sp>
        <p:nvSpPr>
          <p:cNvPr id="5" name="Rounded Rectangle 4"/>
          <p:cNvSpPr/>
          <p:nvPr/>
        </p:nvSpPr>
        <p:spPr>
          <a:xfrm>
            <a:off x="868680" y="2011680"/>
            <a:ext cx="1188720" cy="1005840"/>
          </a:xfrm>
          <a:prstGeom prst="roundRect">
            <a:avLst>
              <a:gd name="adj" fmla="val 12000"/>
            </a:avLst>
          </a:prstGeom>
          <a:solidFill>
            <a:srgbClr val="D5D9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a:solidFill>
                  <a:srgbClr val="5B6475"/>
                </a:solidFill>
                <a:latin typeface="Calibri"/>
              </a:rPr>
              <a:t>block 1</a:t>
            </a:r>
          </a:p>
        </p:txBody>
      </p:sp>
      <p:sp>
        <p:nvSpPr>
          <p:cNvPr id="6" name="TextBox 5"/>
          <p:cNvSpPr txBox="1"/>
          <p:nvPr/>
        </p:nvSpPr>
        <p:spPr>
          <a:xfrm>
            <a:off x="777240" y="3063240"/>
            <a:ext cx="1371600" cy="365760"/>
          </a:xfrm>
          <a:prstGeom prst="rect">
            <a:avLst/>
          </a:prstGeom>
          <a:noFill/>
        </p:spPr>
        <p:txBody>
          <a:bodyPr wrap="square" anchor="t" lIns="45720" rIns="45720" tIns="27432" bIns="27432">
            <a:spAutoFit/>
          </a:bodyPr>
          <a:lstStyle/>
          <a:p>
            <a:pPr algn="ctr"/>
            <a:r>
              <a:rPr sz="1600" b="0" i="0">
                <a:solidFill>
                  <a:srgbClr val="5B6475"/>
                </a:solidFill>
                <a:latin typeface="Calibri"/>
              </a:rPr>
              <a:t>blocked</a:t>
            </a:r>
          </a:p>
        </p:txBody>
      </p:sp>
      <p:sp>
        <p:nvSpPr>
          <p:cNvPr id="7" name="Rounded Rectangle 6"/>
          <p:cNvSpPr/>
          <p:nvPr/>
        </p:nvSpPr>
        <p:spPr>
          <a:xfrm>
            <a:off x="2240280" y="2011680"/>
            <a:ext cx="1188720" cy="1005840"/>
          </a:xfrm>
          <a:prstGeom prst="roundRect">
            <a:avLst>
              <a:gd name="adj" fmla="val 12000"/>
            </a:avLst>
          </a:prstGeom>
          <a:solidFill>
            <a:srgbClr val="D5D9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a:solidFill>
                  <a:srgbClr val="5B6475"/>
                </a:solidFill>
                <a:latin typeface="Calibri"/>
              </a:rPr>
              <a:t>block 2</a:t>
            </a:r>
          </a:p>
        </p:txBody>
      </p:sp>
      <p:sp>
        <p:nvSpPr>
          <p:cNvPr id="8" name="TextBox 7"/>
          <p:cNvSpPr txBox="1"/>
          <p:nvPr/>
        </p:nvSpPr>
        <p:spPr>
          <a:xfrm>
            <a:off x="2148840" y="3063240"/>
            <a:ext cx="1371600" cy="365760"/>
          </a:xfrm>
          <a:prstGeom prst="rect">
            <a:avLst/>
          </a:prstGeom>
          <a:noFill/>
        </p:spPr>
        <p:txBody>
          <a:bodyPr wrap="square" anchor="t" lIns="45720" rIns="45720" tIns="27432" bIns="27432">
            <a:spAutoFit/>
          </a:bodyPr>
          <a:lstStyle/>
          <a:p>
            <a:pPr algn="ctr"/>
            <a:r>
              <a:rPr sz="1600" b="0" i="0">
                <a:solidFill>
                  <a:srgbClr val="5B6475"/>
                </a:solidFill>
                <a:latin typeface="Calibri"/>
              </a:rPr>
              <a:t>blocked</a:t>
            </a:r>
          </a:p>
        </p:txBody>
      </p:sp>
      <p:sp>
        <p:nvSpPr>
          <p:cNvPr id="9" name="Rounded Rectangle 8"/>
          <p:cNvSpPr/>
          <p:nvPr/>
        </p:nvSpPr>
        <p:spPr>
          <a:xfrm>
            <a:off x="3611880" y="2011680"/>
            <a:ext cx="1188720" cy="1005840"/>
          </a:xfrm>
          <a:prstGeom prst="roundRect">
            <a:avLst>
              <a:gd name="adj" fmla="val 12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a:solidFill>
                  <a:srgbClr val="FFFFFF"/>
                </a:solidFill>
                <a:latin typeface="Calibri"/>
              </a:rPr>
              <a:t>block 3</a:t>
            </a:r>
          </a:p>
        </p:txBody>
      </p:sp>
      <p:sp>
        <p:nvSpPr>
          <p:cNvPr id="10" name="TextBox 9"/>
          <p:cNvSpPr txBox="1"/>
          <p:nvPr/>
        </p:nvSpPr>
        <p:spPr>
          <a:xfrm>
            <a:off x="3520440" y="3063240"/>
            <a:ext cx="1371600" cy="365760"/>
          </a:xfrm>
          <a:prstGeom prst="rect">
            <a:avLst/>
          </a:prstGeom>
          <a:noFill/>
        </p:spPr>
        <p:txBody>
          <a:bodyPr wrap="square" anchor="t" lIns="45720" rIns="45720" tIns="27432" bIns="27432">
            <a:spAutoFit/>
          </a:bodyPr>
          <a:lstStyle/>
          <a:p>
            <a:pPr algn="ctr"/>
            <a:r>
              <a:rPr sz="1600" b="1" i="0">
                <a:solidFill>
                  <a:srgbClr val="14213D"/>
                </a:solidFill>
                <a:latin typeface="Calibri"/>
              </a:rPr>
              <a:t>learns</a:t>
            </a:r>
          </a:p>
        </p:txBody>
      </p:sp>
      <p:sp>
        <p:nvSpPr>
          <p:cNvPr id="11" name="Rounded Rectangle 10"/>
          <p:cNvSpPr/>
          <p:nvPr/>
        </p:nvSpPr>
        <p:spPr>
          <a:xfrm>
            <a:off x="4983480" y="2011680"/>
            <a:ext cx="1188720" cy="1005840"/>
          </a:xfrm>
          <a:prstGeom prst="roundRect">
            <a:avLst>
              <a:gd name="adj" fmla="val 12000"/>
            </a:avLst>
          </a:prstGeom>
          <a:solidFill>
            <a:srgbClr val="D5D9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a:solidFill>
                  <a:srgbClr val="5B6475"/>
                </a:solidFill>
                <a:latin typeface="Calibri"/>
              </a:rPr>
              <a:t>block 4</a:t>
            </a:r>
          </a:p>
        </p:txBody>
      </p:sp>
      <p:sp>
        <p:nvSpPr>
          <p:cNvPr id="12" name="TextBox 11"/>
          <p:cNvSpPr txBox="1"/>
          <p:nvPr/>
        </p:nvSpPr>
        <p:spPr>
          <a:xfrm>
            <a:off x="4892040" y="3063240"/>
            <a:ext cx="1371600" cy="365760"/>
          </a:xfrm>
          <a:prstGeom prst="rect">
            <a:avLst/>
          </a:prstGeom>
          <a:noFill/>
        </p:spPr>
        <p:txBody>
          <a:bodyPr wrap="square" anchor="t" lIns="45720" rIns="45720" tIns="27432" bIns="27432">
            <a:spAutoFit/>
          </a:bodyPr>
          <a:lstStyle/>
          <a:p>
            <a:pPr algn="ctr"/>
            <a:r>
              <a:rPr sz="1600" b="0" i="0">
                <a:solidFill>
                  <a:srgbClr val="5B6475"/>
                </a:solidFill>
                <a:latin typeface="Calibri"/>
              </a:rPr>
              <a:t>blocked</a:t>
            </a:r>
          </a:p>
        </p:txBody>
      </p:sp>
      <p:sp>
        <p:nvSpPr>
          <p:cNvPr id="13" name="Rounded Rectangle 12"/>
          <p:cNvSpPr/>
          <p:nvPr/>
        </p:nvSpPr>
        <p:spPr>
          <a:xfrm>
            <a:off x="6355080" y="2011680"/>
            <a:ext cx="1188720" cy="1005840"/>
          </a:xfrm>
          <a:prstGeom prst="roundRect">
            <a:avLst>
              <a:gd name="adj" fmla="val 12000"/>
            </a:avLst>
          </a:prstGeom>
          <a:solidFill>
            <a:srgbClr val="D5D9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a:solidFill>
                  <a:srgbClr val="5B6475"/>
                </a:solidFill>
                <a:latin typeface="Calibri"/>
              </a:rPr>
              <a:t>block 5</a:t>
            </a:r>
          </a:p>
        </p:txBody>
      </p:sp>
      <p:sp>
        <p:nvSpPr>
          <p:cNvPr id="14" name="TextBox 13"/>
          <p:cNvSpPr txBox="1"/>
          <p:nvPr/>
        </p:nvSpPr>
        <p:spPr>
          <a:xfrm>
            <a:off x="6263640" y="3063240"/>
            <a:ext cx="1371600" cy="365760"/>
          </a:xfrm>
          <a:prstGeom prst="rect">
            <a:avLst/>
          </a:prstGeom>
          <a:noFill/>
        </p:spPr>
        <p:txBody>
          <a:bodyPr wrap="square" anchor="t" lIns="45720" rIns="45720" tIns="27432" bIns="27432">
            <a:spAutoFit/>
          </a:bodyPr>
          <a:lstStyle/>
          <a:p>
            <a:pPr algn="ctr"/>
            <a:r>
              <a:rPr sz="1600" b="0" i="0">
                <a:solidFill>
                  <a:srgbClr val="5B6475"/>
                </a:solidFill>
                <a:latin typeface="Calibri"/>
              </a:rPr>
              <a:t>blocked</a:t>
            </a:r>
          </a:p>
        </p:txBody>
      </p:sp>
      <p:sp>
        <p:nvSpPr>
          <p:cNvPr id="15" name="Rounded Rectangle 14"/>
          <p:cNvSpPr/>
          <p:nvPr/>
        </p:nvSpPr>
        <p:spPr>
          <a:xfrm>
            <a:off x="7726679" y="2011680"/>
            <a:ext cx="1188720" cy="1005840"/>
          </a:xfrm>
          <a:prstGeom prst="roundRect">
            <a:avLst>
              <a:gd name="adj" fmla="val 12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a:solidFill>
                  <a:srgbClr val="FFFFFF"/>
                </a:solidFill>
                <a:latin typeface="Calibri"/>
              </a:rPr>
              <a:t>block 6</a:t>
            </a:r>
          </a:p>
        </p:txBody>
      </p:sp>
      <p:sp>
        <p:nvSpPr>
          <p:cNvPr id="16" name="TextBox 15"/>
          <p:cNvSpPr txBox="1"/>
          <p:nvPr/>
        </p:nvSpPr>
        <p:spPr>
          <a:xfrm>
            <a:off x="7635240" y="3063240"/>
            <a:ext cx="1371600" cy="365760"/>
          </a:xfrm>
          <a:prstGeom prst="rect">
            <a:avLst/>
          </a:prstGeom>
          <a:noFill/>
        </p:spPr>
        <p:txBody>
          <a:bodyPr wrap="square" anchor="t" lIns="45720" rIns="45720" tIns="27432" bIns="27432">
            <a:spAutoFit/>
          </a:bodyPr>
          <a:lstStyle/>
          <a:p>
            <a:pPr algn="ctr"/>
            <a:r>
              <a:rPr sz="1600" b="1" i="0">
                <a:solidFill>
                  <a:srgbClr val="14213D"/>
                </a:solidFill>
                <a:latin typeface="Calibri"/>
              </a:rPr>
              <a:t>learns</a:t>
            </a:r>
          </a:p>
        </p:txBody>
      </p:sp>
      <p:sp>
        <p:nvSpPr>
          <p:cNvPr id="17" name="Rounded Rectangle 16"/>
          <p:cNvSpPr/>
          <p:nvPr/>
        </p:nvSpPr>
        <p:spPr>
          <a:xfrm>
            <a:off x="9098280" y="2011680"/>
            <a:ext cx="1188720" cy="1005840"/>
          </a:xfrm>
          <a:prstGeom prst="roundRect">
            <a:avLst>
              <a:gd name="adj" fmla="val 12000"/>
            </a:avLst>
          </a:prstGeom>
          <a:solidFill>
            <a:srgbClr val="D5D9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a:solidFill>
                  <a:srgbClr val="5B6475"/>
                </a:solidFill>
                <a:latin typeface="Calibri"/>
              </a:rPr>
              <a:t>block 7</a:t>
            </a:r>
          </a:p>
        </p:txBody>
      </p:sp>
      <p:sp>
        <p:nvSpPr>
          <p:cNvPr id="18" name="TextBox 17"/>
          <p:cNvSpPr txBox="1"/>
          <p:nvPr/>
        </p:nvSpPr>
        <p:spPr>
          <a:xfrm>
            <a:off x="9006840" y="3063240"/>
            <a:ext cx="1371600" cy="365760"/>
          </a:xfrm>
          <a:prstGeom prst="rect">
            <a:avLst/>
          </a:prstGeom>
          <a:noFill/>
        </p:spPr>
        <p:txBody>
          <a:bodyPr wrap="square" anchor="t" lIns="45720" rIns="45720" tIns="27432" bIns="27432">
            <a:spAutoFit/>
          </a:bodyPr>
          <a:lstStyle/>
          <a:p>
            <a:pPr algn="ctr"/>
            <a:r>
              <a:rPr sz="1600" b="0" i="0">
                <a:solidFill>
                  <a:srgbClr val="5B6475"/>
                </a:solidFill>
                <a:latin typeface="Calibri"/>
              </a:rPr>
              <a:t>blocked</a:t>
            </a:r>
          </a:p>
        </p:txBody>
      </p:sp>
      <p:sp>
        <p:nvSpPr>
          <p:cNvPr id="19" name="Rounded Rectangle 18"/>
          <p:cNvSpPr/>
          <p:nvPr/>
        </p:nvSpPr>
        <p:spPr>
          <a:xfrm>
            <a:off x="10469880" y="2011680"/>
            <a:ext cx="1188720" cy="1005840"/>
          </a:xfrm>
          <a:prstGeom prst="roundRect">
            <a:avLst>
              <a:gd name="adj" fmla="val 12000"/>
            </a:avLst>
          </a:prstGeom>
          <a:solidFill>
            <a:srgbClr val="D5D9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a:solidFill>
                  <a:srgbClr val="5B6475"/>
                </a:solidFill>
                <a:latin typeface="Calibri"/>
              </a:rPr>
              <a:t>block 8</a:t>
            </a:r>
          </a:p>
        </p:txBody>
      </p:sp>
      <p:sp>
        <p:nvSpPr>
          <p:cNvPr id="20" name="TextBox 19"/>
          <p:cNvSpPr txBox="1"/>
          <p:nvPr/>
        </p:nvSpPr>
        <p:spPr>
          <a:xfrm>
            <a:off x="10378440" y="3063240"/>
            <a:ext cx="1371600" cy="365760"/>
          </a:xfrm>
          <a:prstGeom prst="rect">
            <a:avLst/>
          </a:prstGeom>
          <a:noFill/>
        </p:spPr>
        <p:txBody>
          <a:bodyPr wrap="square" anchor="t" lIns="45720" rIns="45720" tIns="27432" bIns="27432">
            <a:spAutoFit/>
          </a:bodyPr>
          <a:lstStyle/>
          <a:p>
            <a:pPr algn="ctr"/>
            <a:r>
              <a:rPr sz="1600" b="0" i="0">
                <a:solidFill>
                  <a:srgbClr val="5B6475"/>
                </a:solidFill>
                <a:latin typeface="Calibri"/>
              </a:rPr>
              <a:t>blocked</a:t>
            </a:r>
          </a:p>
        </p:txBody>
      </p:sp>
      <p:sp>
        <p:nvSpPr>
          <p:cNvPr id="21" name="TextBox 20"/>
          <p:cNvSpPr txBox="1"/>
          <p:nvPr/>
        </p:nvSpPr>
        <p:spPr>
          <a:xfrm>
            <a:off x="548640" y="3520440"/>
            <a:ext cx="11064240" cy="365760"/>
          </a:xfrm>
          <a:prstGeom prst="rect">
            <a:avLst/>
          </a:prstGeom>
          <a:noFill/>
        </p:spPr>
        <p:txBody>
          <a:bodyPr wrap="square" anchor="t" lIns="45720" rIns="45720" tIns="27432" bIns="27432">
            <a:spAutoFit/>
          </a:bodyPr>
          <a:lstStyle/>
          <a:p>
            <a:pPr algn="l"/>
            <a:r>
              <a:rPr sz="1800" b="0" i="0">
                <a:solidFill>
                  <a:srgbClr val="1B1F2A"/>
                </a:solidFill>
                <a:latin typeface="Calibri"/>
              </a:rPr>
              <a:t>Each batch: only the 2 most active blocks get the learning signal (gradient). Which 2 varies.</a:t>
            </a:r>
          </a:p>
        </p:txBody>
      </p:sp>
      <p:sp>
        <p:nvSpPr>
          <p:cNvPr id="22" name="Rounded Rectangle 21"/>
          <p:cNvSpPr/>
          <p:nvPr/>
        </p:nvSpPr>
        <p:spPr>
          <a:xfrm>
            <a:off x="548640" y="4160520"/>
            <a:ext cx="3566160" cy="1234440"/>
          </a:xfrm>
          <a:prstGeom prst="roundRect">
            <a:avLst>
              <a:gd name="adj" fmla="val 8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85800" y="4297680"/>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a:solidFill>
                  <a:srgbClr val="FFFFFF"/>
                </a:solidFill>
                <a:latin typeface="Calibri"/>
              </a:rPr>
              <a:t>1</a:t>
            </a:r>
          </a:p>
        </p:txBody>
      </p:sp>
      <p:sp>
        <p:nvSpPr>
          <p:cNvPr id="24" name="TextBox 23"/>
          <p:cNvSpPr txBox="1"/>
          <p:nvPr/>
        </p:nvSpPr>
        <p:spPr>
          <a:xfrm>
            <a:off x="1280160" y="4279392"/>
            <a:ext cx="2743200" cy="502920"/>
          </a:xfrm>
          <a:prstGeom prst="rect">
            <a:avLst/>
          </a:prstGeom>
          <a:noFill/>
        </p:spPr>
        <p:txBody>
          <a:bodyPr wrap="square" anchor="ctr" lIns="45720" rIns="45720" tIns="27432" bIns="27432">
            <a:spAutoFit/>
          </a:bodyPr>
          <a:lstStyle/>
          <a:p>
            <a:pPr algn="l"/>
            <a:r>
              <a:rPr sz="2200" b="1" i="0">
                <a:solidFill>
                  <a:srgbClr val="14213D"/>
                </a:solidFill>
                <a:latin typeface="Calibri"/>
              </a:rPr>
              <a:t>Measure</a:t>
            </a:r>
          </a:p>
        </p:txBody>
      </p:sp>
      <p:sp>
        <p:nvSpPr>
          <p:cNvPr id="25" name="TextBox 24"/>
          <p:cNvSpPr txBox="1"/>
          <p:nvPr/>
        </p:nvSpPr>
        <p:spPr>
          <a:xfrm>
            <a:off x="685800" y="4846320"/>
            <a:ext cx="3291840" cy="502920"/>
          </a:xfrm>
          <a:prstGeom prst="rect">
            <a:avLst/>
          </a:prstGeom>
          <a:noFill/>
        </p:spPr>
        <p:txBody>
          <a:bodyPr wrap="square" anchor="t" lIns="45720" rIns="45720" tIns="27432" bIns="27432">
            <a:spAutoFit/>
          </a:bodyPr>
          <a:lstStyle/>
          <a:p>
            <a:pPr algn="l"/>
            <a:r>
              <a:rPr sz="1800" b="0" i="0">
                <a:solidFill>
                  <a:srgbClr val="1B1F2A"/>
                </a:solidFill>
                <a:latin typeface="Calibri"/>
              </a:rPr>
              <a:t>How active is each block?</a:t>
            </a:r>
          </a:p>
        </p:txBody>
      </p:sp>
      <p:sp>
        <p:nvSpPr>
          <p:cNvPr id="26" name="Rounded Rectangle 25"/>
          <p:cNvSpPr/>
          <p:nvPr/>
        </p:nvSpPr>
        <p:spPr>
          <a:xfrm>
            <a:off x="4343400" y="4160520"/>
            <a:ext cx="3566160" cy="1234440"/>
          </a:xfrm>
          <a:prstGeom prst="roundRect">
            <a:avLst>
              <a:gd name="adj" fmla="val 8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480560" y="4297680"/>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a:solidFill>
                  <a:srgbClr val="FFFFFF"/>
                </a:solidFill>
                <a:latin typeface="Calibri"/>
              </a:rPr>
              <a:t>2</a:t>
            </a:r>
          </a:p>
        </p:txBody>
      </p:sp>
      <p:sp>
        <p:nvSpPr>
          <p:cNvPr id="28" name="TextBox 27"/>
          <p:cNvSpPr txBox="1"/>
          <p:nvPr/>
        </p:nvSpPr>
        <p:spPr>
          <a:xfrm>
            <a:off x="5074920" y="4279392"/>
            <a:ext cx="2743200" cy="502920"/>
          </a:xfrm>
          <a:prstGeom prst="rect">
            <a:avLst/>
          </a:prstGeom>
          <a:noFill/>
        </p:spPr>
        <p:txBody>
          <a:bodyPr wrap="square" anchor="ctr" lIns="45720" rIns="45720" tIns="27432" bIns="27432">
            <a:spAutoFit/>
          </a:bodyPr>
          <a:lstStyle/>
          <a:p>
            <a:pPr algn="l"/>
            <a:r>
              <a:rPr sz="2200" b="1" i="0">
                <a:solidFill>
                  <a:srgbClr val="14213D"/>
                </a:solidFill>
                <a:latin typeface="Calibri"/>
              </a:rPr>
              <a:t>Select</a:t>
            </a:r>
          </a:p>
        </p:txBody>
      </p:sp>
      <p:sp>
        <p:nvSpPr>
          <p:cNvPr id="29" name="TextBox 28"/>
          <p:cNvSpPr txBox="1"/>
          <p:nvPr/>
        </p:nvSpPr>
        <p:spPr>
          <a:xfrm>
            <a:off x="4480560" y="4846320"/>
            <a:ext cx="3291840" cy="502920"/>
          </a:xfrm>
          <a:prstGeom prst="rect">
            <a:avLst/>
          </a:prstGeom>
          <a:noFill/>
        </p:spPr>
        <p:txBody>
          <a:bodyPr wrap="square" anchor="t" lIns="45720" rIns="45720" tIns="27432" bIns="27432">
            <a:spAutoFit/>
          </a:bodyPr>
          <a:lstStyle/>
          <a:p>
            <a:pPr algn="l"/>
            <a:r>
              <a:rPr sz="1800" b="0" i="0">
                <a:solidFill>
                  <a:srgbClr val="1B1F2A"/>
                </a:solidFill>
                <a:latin typeface="Calibri"/>
              </a:rPr>
              <a:t>Top 2 learn, 6 are blocked</a:t>
            </a:r>
          </a:p>
        </p:txBody>
      </p:sp>
      <p:sp>
        <p:nvSpPr>
          <p:cNvPr id="30" name="Rounded Rectangle 29"/>
          <p:cNvSpPr/>
          <p:nvPr/>
        </p:nvSpPr>
        <p:spPr>
          <a:xfrm>
            <a:off x="8138160" y="4160520"/>
            <a:ext cx="3566160" cy="1234440"/>
          </a:xfrm>
          <a:prstGeom prst="roundRect">
            <a:avLst>
              <a:gd name="adj" fmla="val 8000"/>
            </a:avLst>
          </a:prstGeom>
          <a:solidFill>
            <a:srgbClr val="FDF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275320" y="4297680"/>
            <a:ext cx="457200" cy="457200"/>
          </a:xfrm>
          <a:prstGeom prst="ellipse">
            <a:avLst/>
          </a:prstGeom>
          <a:solidFill>
            <a:srgbClr val="F2B1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a:solidFill>
                  <a:srgbClr val="14213D"/>
                </a:solidFill>
                <a:latin typeface="Calibri"/>
              </a:rPr>
              <a:t>3</a:t>
            </a:r>
          </a:p>
        </p:txBody>
      </p:sp>
      <p:sp>
        <p:nvSpPr>
          <p:cNvPr id="32" name="TextBox 31"/>
          <p:cNvSpPr txBox="1"/>
          <p:nvPr/>
        </p:nvSpPr>
        <p:spPr>
          <a:xfrm>
            <a:off x="8869680" y="4279392"/>
            <a:ext cx="2743200" cy="502920"/>
          </a:xfrm>
          <a:prstGeom prst="rect">
            <a:avLst/>
          </a:prstGeom>
          <a:noFill/>
        </p:spPr>
        <p:txBody>
          <a:bodyPr wrap="square" anchor="ctr" lIns="45720" rIns="45720" tIns="27432" bIns="27432">
            <a:spAutoFit/>
          </a:bodyPr>
          <a:lstStyle/>
          <a:p>
            <a:pPr algn="l"/>
            <a:r>
              <a:rPr sz="2200" b="1" i="0">
                <a:solidFill>
                  <a:srgbClr val="14213D"/>
                </a:solidFill>
                <a:latin typeface="Calibri"/>
              </a:rPr>
              <a:t>Balance</a:t>
            </a:r>
          </a:p>
        </p:txBody>
      </p:sp>
      <p:sp>
        <p:nvSpPr>
          <p:cNvPr id="33" name="TextBox 32"/>
          <p:cNvSpPr txBox="1"/>
          <p:nvPr/>
        </p:nvSpPr>
        <p:spPr>
          <a:xfrm>
            <a:off x="8275320" y="4846320"/>
            <a:ext cx="3291840" cy="502920"/>
          </a:xfrm>
          <a:prstGeom prst="rect">
            <a:avLst/>
          </a:prstGeom>
          <a:noFill/>
        </p:spPr>
        <p:txBody>
          <a:bodyPr wrap="square" anchor="t" lIns="45720" rIns="45720" tIns="27432" bIns="27432">
            <a:spAutoFit/>
          </a:bodyPr>
          <a:lstStyle/>
          <a:p>
            <a:pPr algn="l"/>
            <a:r>
              <a:rPr sz="1800" b="0" i="0">
                <a:solidFill>
                  <a:srgbClr val="1B1F2A"/>
                </a:solidFill>
                <a:latin typeface="Calibri"/>
              </a:rPr>
              <a:t>A nudge keeps idle blocks alive</a:t>
            </a:r>
          </a:p>
        </p:txBody>
      </p:sp>
      <p:sp>
        <p:nvSpPr>
          <p:cNvPr id="34" name="Rounded Rectangle 33"/>
          <p:cNvSpPr/>
          <p:nvPr/>
        </p:nvSpPr>
        <p:spPr>
          <a:xfrm>
            <a:off x="548640" y="5623560"/>
            <a:ext cx="11064240" cy="640080"/>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200" b="1">
                <a:solidFill>
                  <a:srgbClr val="FFFFFF"/>
                </a:solidFill>
                <a:latin typeface="Calibri"/>
              </a:rPr>
              <a:t>Like brain regions: they specialise through use and competition.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20040"/>
            <a:ext cx="11064240" cy="822960"/>
          </a:xfrm>
          <a:prstGeom prst="rect">
            <a:avLst/>
          </a:prstGeom>
          <a:noFill/>
        </p:spPr>
        <p:txBody>
          <a:bodyPr wrap="square" anchor="ctr" lIns="45720" rIns="45720" tIns="27432" bIns="27432">
            <a:spAutoFit/>
          </a:bodyPr>
          <a:lstStyle/>
          <a:p>
            <a:pPr algn="l"/>
            <a:r>
              <a:rPr sz="3600" b="1" i="0">
                <a:solidFill>
                  <a:srgbClr val="14213D"/>
                </a:solidFill>
                <a:latin typeface="Cambria"/>
              </a:rPr>
              <a:t>How we test it: switch one block off</a:t>
            </a:r>
          </a:p>
        </p:txBody>
      </p:sp>
      <p:sp>
        <p:nvSpPr>
          <p:cNvPr id="3" name="TextBox 2"/>
          <p:cNvSpPr txBox="1"/>
          <p:nvPr/>
        </p:nvSpPr>
        <p:spPr>
          <a:xfrm>
            <a:off x="10881360" y="6400800"/>
            <a:ext cx="822960" cy="274320"/>
          </a:xfrm>
          <a:prstGeom prst="rect">
            <a:avLst/>
          </a:prstGeom>
          <a:noFill/>
        </p:spPr>
        <p:txBody>
          <a:bodyPr wrap="square" anchor="t" lIns="45720" rIns="45720" tIns="27432" bIns="27432">
            <a:spAutoFit/>
          </a:bodyPr>
          <a:lstStyle/>
          <a:p>
            <a:pPr algn="r"/>
            <a:r>
              <a:rPr sz="1200" b="0" i="0">
                <a:solidFill>
                  <a:srgbClr val="5B6475"/>
                </a:solidFill>
                <a:latin typeface="Calibri"/>
              </a:rPr>
              <a:t>6 / 10</a:t>
            </a:r>
          </a:p>
        </p:txBody>
      </p:sp>
      <p:sp>
        <p:nvSpPr>
          <p:cNvPr id="4" name="TextBox 3"/>
          <p:cNvSpPr txBox="1"/>
          <p:nvPr/>
        </p:nvSpPr>
        <p:spPr>
          <a:xfrm>
            <a:off x="548640" y="1188720"/>
            <a:ext cx="11064240" cy="731520"/>
          </a:xfrm>
          <a:prstGeom prst="rect">
            <a:avLst/>
          </a:prstGeom>
          <a:noFill/>
        </p:spPr>
        <p:txBody>
          <a:bodyPr wrap="square" anchor="t" lIns="45720" rIns="45720" tIns="27432" bIns="27432">
            <a:spAutoFit/>
          </a:bodyPr>
          <a:lstStyle/>
          <a:p>
            <a:pPr algn="l"/>
            <a:r>
              <a:rPr sz="2200" b="0" i="0">
                <a:solidFill>
                  <a:srgbClr val="1B1F2A"/>
                </a:solidFill>
                <a:latin typeface="Calibri"/>
              </a:rPr>
              <a:t>Like studying brain injury: damage one region and see which ability is lost.</a:t>
            </a:r>
          </a:p>
        </p:txBody>
      </p:sp>
      <p:sp>
        <p:nvSpPr>
          <p:cNvPr id="5" name="Rounded Rectangle 4"/>
          <p:cNvSpPr/>
          <p:nvPr/>
        </p:nvSpPr>
        <p:spPr>
          <a:xfrm>
            <a:off x="548640" y="2011680"/>
            <a:ext cx="6035040" cy="365760"/>
          </a:xfrm>
          <a:prstGeom prst="roundRect">
            <a:avLst>
              <a:gd name="adj" fmla="val 50000"/>
            </a:avLst>
          </a:prstGeom>
          <a:solidFill>
            <a:srgbClr val="F2B1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a:solidFill>
                  <a:srgbClr val="14213D"/>
                </a:solidFill>
                <a:latin typeface="Calibri"/>
              </a:rPr>
              <a:t>ILLUSTRATIVE SKETCH, NOT REAL DATA</a:t>
            </a:r>
          </a:p>
        </p:txBody>
      </p:sp>
      <p:sp>
        <p:nvSpPr>
          <p:cNvPr id="6" name="Rounded Rectangle 5"/>
          <p:cNvSpPr/>
          <p:nvPr/>
        </p:nvSpPr>
        <p:spPr>
          <a:xfrm>
            <a:off x="822960" y="2560320"/>
            <a:ext cx="731520" cy="274320"/>
          </a:xfrm>
          <a:prstGeom prst="roundRect">
            <a:avLst>
              <a:gd name="adj" fmla="val 20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FFFFFF"/>
                </a:solidFill>
                <a:latin typeface="Calibri"/>
              </a:rPr>
              <a:t>Story</a:t>
            </a:r>
          </a:p>
        </p:txBody>
      </p:sp>
      <p:sp>
        <p:nvSpPr>
          <p:cNvPr id="7" name="Rounded Rectangle 6"/>
          <p:cNvSpPr/>
          <p:nvPr/>
        </p:nvSpPr>
        <p:spPr>
          <a:xfrm>
            <a:off x="1645920" y="2560320"/>
            <a:ext cx="731520" cy="274320"/>
          </a:xfrm>
          <a:prstGeom prst="roundRect">
            <a:avLst>
              <a:gd name="adj" fmla="val 20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FFFFFF"/>
                </a:solidFill>
                <a:latin typeface="Calibri"/>
              </a:rPr>
              <a:t>Math</a:t>
            </a:r>
          </a:p>
        </p:txBody>
      </p:sp>
      <p:sp>
        <p:nvSpPr>
          <p:cNvPr id="8" name="Rounded Rectangle 7"/>
          <p:cNvSpPr/>
          <p:nvPr/>
        </p:nvSpPr>
        <p:spPr>
          <a:xfrm>
            <a:off x="2468880" y="2560320"/>
            <a:ext cx="731520" cy="274320"/>
          </a:xfrm>
          <a:prstGeom prst="roundRect">
            <a:avLst>
              <a:gd name="adj" fmla="val 20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FFFFFF"/>
                </a:solidFill>
                <a:latin typeface="Calibri"/>
              </a:rPr>
              <a:t>Code</a:t>
            </a:r>
          </a:p>
        </p:txBody>
      </p:sp>
      <p:sp>
        <p:nvSpPr>
          <p:cNvPr id="9" name="Rounded Rectangle 8"/>
          <p:cNvSpPr/>
          <p:nvPr/>
        </p:nvSpPr>
        <p:spPr>
          <a:xfrm>
            <a:off x="822960" y="2926079"/>
            <a:ext cx="731520" cy="310896"/>
          </a:xfrm>
          <a:prstGeom prst="roundRect">
            <a:avLst>
              <a:gd name="adj" fmla="val 10000"/>
            </a:avLst>
          </a:prstGeom>
          <a:solidFill>
            <a:srgbClr val="F1C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645920" y="2926079"/>
            <a:ext cx="731520" cy="310896"/>
          </a:xfrm>
          <a:prstGeom prst="roundRect">
            <a:avLst>
              <a:gd name="adj" fmla="val 10000"/>
            </a:avLst>
          </a:prstGeom>
          <a:solidFill>
            <a:srgbClr val="F1C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468880" y="2926079"/>
            <a:ext cx="731520" cy="310896"/>
          </a:xfrm>
          <a:prstGeom prst="roundRect">
            <a:avLst>
              <a:gd name="adj" fmla="val 10000"/>
            </a:avLst>
          </a:prstGeom>
          <a:solidFill>
            <a:srgbClr val="F1C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22960" y="3291839"/>
            <a:ext cx="731520" cy="310896"/>
          </a:xfrm>
          <a:prstGeom prst="roundRect">
            <a:avLst>
              <a:gd name="adj" fmla="val 10000"/>
            </a:avLst>
          </a:prstGeom>
          <a:solidFill>
            <a:srgbClr val="F1C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645920" y="3291839"/>
            <a:ext cx="731520" cy="310896"/>
          </a:xfrm>
          <a:prstGeom prst="roundRect">
            <a:avLst>
              <a:gd name="adj" fmla="val 10000"/>
            </a:avLst>
          </a:prstGeom>
          <a:solidFill>
            <a:srgbClr val="F1C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468880" y="3291839"/>
            <a:ext cx="731520" cy="310896"/>
          </a:xfrm>
          <a:prstGeom prst="roundRect">
            <a:avLst>
              <a:gd name="adj" fmla="val 10000"/>
            </a:avLst>
          </a:prstGeom>
          <a:solidFill>
            <a:srgbClr val="F1C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2960" y="3657600"/>
            <a:ext cx="731520" cy="310896"/>
          </a:xfrm>
          <a:prstGeom prst="roundRect">
            <a:avLst>
              <a:gd name="adj" fmla="val 10000"/>
            </a:avLst>
          </a:prstGeom>
          <a:solidFill>
            <a:srgbClr val="F1C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645920" y="3657600"/>
            <a:ext cx="731520" cy="310896"/>
          </a:xfrm>
          <a:prstGeom prst="roundRect">
            <a:avLst>
              <a:gd name="adj" fmla="val 10000"/>
            </a:avLst>
          </a:prstGeom>
          <a:solidFill>
            <a:srgbClr val="F1C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468880" y="3657600"/>
            <a:ext cx="731520" cy="310896"/>
          </a:xfrm>
          <a:prstGeom prst="roundRect">
            <a:avLst>
              <a:gd name="adj" fmla="val 10000"/>
            </a:avLst>
          </a:prstGeom>
          <a:solidFill>
            <a:srgbClr val="F1C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2960" y="4023360"/>
            <a:ext cx="731520" cy="310896"/>
          </a:xfrm>
          <a:prstGeom prst="roundRect">
            <a:avLst>
              <a:gd name="adj" fmla="val 10000"/>
            </a:avLst>
          </a:prstGeom>
          <a:solidFill>
            <a:srgbClr val="F1C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645920" y="4023360"/>
            <a:ext cx="731520" cy="310896"/>
          </a:xfrm>
          <a:prstGeom prst="roundRect">
            <a:avLst>
              <a:gd name="adj" fmla="val 10000"/>
            </a:avLst>
          </a:prstGeom>
          <a:solidFill>
            <a:srgbClr val="F1C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2468880" y="4023360"/>
            <a:ext cx="731520" cy="310896"/>
          </a:xfrm>
          <a:prstGeom prst="roundRect">
            <a:avLst>
              <a:gd name="adj" fmla="val 10000"/>
            </a:avLst>
          </a:prstGeom>
          <a:solidFill>
            <a:srgbClr val="F1C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22960" y="4389120"/>
            <a:ext cx="731520" cy="310896"/>
          </a:xfrm>
          <a:prstGeom prst="roundRect">
            <a:avLst>
              <a:gd name="adj" fmla="val 10000"/>
            </a:avLst>
          </a:prstGeom>
          <a:solidFill>
            <a:srgbClr val="F1C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645920" y="4389120"/>
            <a:ext cx="731520" cy="310896"/>
          </a:xfrm>
          <a:prstGeom prst="roundRect">
            <a:avLst>
              <a:gd name="adj" fmla="val 10000"/>
            </a:avLst>
          </a:prstGeom>
          <a:solidFill>
            <a:srgbClr val="F1C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468880" y="4389120"/>
            <a:ext cx="731520" cy="310896"/>
          </a:xfrm>
          <a:prstGeom prst="roundRect">
            <a:avLst>
              <a:gd name="adj" fmla="val 10000"/>
            </a:avLst>
          </a:prstGeom>
          <a:solidFill>
            <a:srgbClr val="F1C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22960" y="4754879"/>
            <a:ext cx="731520" cy="310896"/>
          </a:xfrm>
          <a:prstGeom prst="roundRect">
            <a:avLst>
              <a:gd name="adj" fmla="val 10000"/>
            </a:avLst>
          </a:prstGeom>
          <a:solidFill>
            <a:srgbClr val="F1C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645920" y="4754879"/>
            <a:ext cx="731520" cy="310896"/>
          </a:xfrm>
          <a:prstGeom prst="roundRect">
            <a:avLst>
              <a:gd name="adj" fmla="val 10000"/>
            </a:avLst>
          </a:prstGeom>
          <a:solidFill>
            <a:srgbClr val="F1C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468880" y="4754879"/>
            <a:ext cx="731520" cy="310896"/>
          </a:xfrm>
          <a:prstGeom prst="roundRect">
            <a:avLst>
              <a:gd name="adj" fmla="val 10000"/>
            </a:avLst>
          </a:prstGeom>
          <a:solidFill>
            <a:srgbClr val="F1CF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5166360"/>
            <a:ext cx="2743200" cy="822960"/>
          </a:xfrm>
          <a:prstGeom prst="rect">
            <a:avLst/>
          </a:prstGeom>
          <a:noFill/>
        </p:spPr>
        <p:txBody>
          <a:bodyPr wrap="square" anchor="t" lIns="45720" rIns="45720" tIns="27432" bIns="27432">
            <a:spAutoFit/>
          </a:bodyPr>
          <a:lstStyle/>
          <a:p>
            <a:pPr algn="ctr"/>
            <a:r>
              <a:rPr sz="1600" b="1" i="0">
                <a:solidFill>
                  <a:srgbClr val="14213D"/>
                </a:solidFill>
                <a:latin typeface="Calibri"/>
              </a:rPr>
              <a:t>Dense model: every block matters a little for everything</a:t>
            </a:r>
          </a:p>
        </p:txBody>
      </p:sp>
      <p:sp>
        <p:nvSpPr>
          <p:cNvPr id="28" name="Rounded Rectangle 27"/>
          <p:cNvSpPr/>
          <p:nvPr/>
        </p:nvSpPr>
        <p:spPr>
          <a:xfrm>
            <a:off x="3931920" y="2560320"/>
            <a:ext cx="731520" cy="274320"/>
          </a:xfrm>
          <a:prstGeom prst="roundRect">
            <a:avLst>
              <a:gd name="adj" fmla="val 20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FFFFFF"/>
                </a:solidFill>
                <a:latin typeface="Calibri"/>
              </a:rPr>
              <a:t>Story</a:t>
            </a:r>
          </a:p>
        </p:txBody>
      </p:sp>
      <p:sp>
        <p:nvSpPr>
          <p:cNvPr id="29" name="Rounded Rectangle 28"/>
          <p:cNvSpPr/>
          <p:nvPr/>
        </p:nvSpPr>
        <p:spPr>
          <a:xfrm>
            <a:off x="4754880" y="2560320"/>
            <a:ext cx="731520" cy="274320"/>
          </a:xfrm>
          <a:prstGeom prst="roundRect">
            <a:avLst>
              <a:gd name="adj" fmla="val 20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FFFFFF"/>
                </a:solidFill>
                <a:latin typeface="Calibri"/>
              </a:rPr>
              <a:t>Math</a:t>
            </a:r>
          </a:p>
        </p:txBody>
      </p:sp>
      <p:sp>
        <p:nvSpPr>
          <p:cNvPr id="30" name="Rounded Rectangle 29"/>
          <p:cNvSpPr/>
          <p:nvPr/>
        </p:nvSpPr>
        <p:spPr>
          <a:xfrm>
            <a:off x="5577840" y="2560320"/>
            <a:ext cx="731520" cy="274320"/>
          </a:xfrm>
          <a:prstGeom prst="roundRect">
            <a:avLst>
              <a:gd name="adj" fmla="val 20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FFFFFF"/>
                </a:solidFill>
                <a:latin typeface="Calibri"/>
              </a:rPr>
              <a:t>Code</a:t>
            </a:r>
          </a:p>
        </p:txBody>
      </p:sp>
      <p:sp>
        <p:nvSpPr>
          <p:cNvPr id="31" name="Rounded Rectangle 30"/>
          <p:cNvSpPr/>
          <p:nvPr/>
        </p:nvSpPr>
        <p:spPr>
          <a:xfrm>
            <a:off x="3931920" y="2926079"/>
            <a:ext cx="731520" cy="310896"/>
          </a:xfrm>
          <a:prstGeom prst="roundRect">
            <a:avLst>
              <a:gd name="adj" fmla="val 10000"/>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4754880" y="2926079"/>
            <a:ext cx="731520" cy="310896"/>
          </a:xfrm>
          <a:prstGeom prst="roundRect">
            <a:avLst>
              <a:gd name="adj" fmla="val 10000"/>
            </a:avLst>
          </a:prstGeom>
          <a:solidFill>
            <a:srgbClr val="F8E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5577840" y="2926079"/>
            <a:ext cx="731520" cy="310896"/>
          </a:xfrm>
          <a:prstGeom prst="roundRect">
            <a:avLst>
              <a:gd name="adj" fmla="val 10000"/>
            </a:avLst>
          </a:prstGeom>
          <a:solidFill>
            <a:srgbClr val="F8E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931920" y="3291839"/>
            <a:ext cx="731520" cy="310896"/>
          </a:xfrm>
          <a:prstGeom prst="roundRect">
            <a:avLst>
              <a:gd name="adj" fmla="val 10000"/>
            </a:avLst>
          </a:prstGeom>
          <a:solidFill>
            <a:srgbClr val="F8E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754880" y="3291839"/>
            <a:ext cx="731520" cy="310896"/>
          </a:xfrm>
          <a:prstGeom prst="roundRect">
            <a:avLst>
              <a:gd name="adj" fmla="val 10000"/>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577840" y="3291839"/>
            <a:ext cx="731520" cy="310896"/>
          </a:xfrm>
          <a:prstGeom prst="roundRect">
            <a:avLst>
              <a:gd name="adj" fmla="val 10000"/>
            </a:avLst>
          </a:prstGeom>
          <a:solidFill>
            <a:srgbClr val="F8E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3931920" y="3657600"/>
            <a:ext cx="731520" cy="310896"/>
          </a:xfrm>
          <a:prstGeom prst="roundRect">
            <a:avLst>
              <a:gd name="adj" fmla="val 10000"/>
            </a:avLst>
          </a:prstGeom>
          <a:solidFill>
            <a:srgbClr val="F8E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4754880" y="3657600"/>
            <a:ext cx="731520" cy="310896"/>
          </a:xfrm>
          <a:prstGeom prst="roundRect">
            <a:avLst>
              <a:gd name="adj" fmla="val 10000"/>
            </a:avLst>
          </a:prstGeom>
          <a:solidFill>
            <a:srgbClr val="F8E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5577840" y="3657600"/>
            <a:ext cx="731520" cy="310896"/>
          </a:xfrm>
          <a:prstGeom prst="roundRect">
            <a:avLst>
              <a:gd name="adj" fmla="val 10000"/>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3931920" y="4023360"/>
            <a:ext cx="731520" cy="310896"/>
          </a:xfrm>
          <a:prstGeom prst="roundRect">
            <a:avLst>
              <a:gd name="adj" fmla="val 10000"/>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4754880" y="4023360"/>
            <a:ext cx="731520" cy="310896"/>
          </a:xfrm>
          <a:prstGeom prst="roundRect">
            <a:avLst>
              <a:gd name="adj" fmla="val 10000"/>
            </a:avLst>
          </a:prstGeom>
          <a:solidFill>
            <a:srgbClr val="F8E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5577840" y="4023360"/>
            <a:ext cx="731520" cy="310896"/>
          </a:xfrm>
          <a:prstGeom prst="roundRect">
            <a:avLst>
              <a:gd name="adj" fmla="val 10000"/>
            </a:avLst>
          </a:prstGeom>
          <a:solidFill>
            <a:srgbClr val="F8E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3931920" y="4389120"/>
            <a:ext cx="731520" cy="310896"/>
          </a:xfrm>
          <a:prstGeom prst="roundRect">
            <a:avLst>
              <a:gd name="adj" fmla="val 10000"/>
            </a:avLst>
          </a:prstGeom>
          <a:solidFill>
            <a:srgbClr val="F8E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754880" y="4389120"/>
            <a:ext cx="731520" cy="310896"/>
          </a:xfrm>
          <a:prstGeom prst="roundRect">
            <a:avLst>
              <a:gd name="adj" fmla="val 10000"/>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5577840" y="4389120"/>
            <a:ext cx="731520" cy="310896"/>
          </a:xfrm>
          <a:prstGeom prst="roundRect">
            <a:avLst>
              <a:gd name="adj" fmla="val 10000"/>
            </a:avLst>
          </a:prstGeom>
          <a:solidFill>
            <a:srgbClr val="F8E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3931920" y="4754879"/>
            <a:ext cx="731520" cy="310896"/>
          </a:xfrm>
          <a:prstGeom prst="roundRect">
            <a:avLst>
              <a:gd name="adj" fmla="val 10000"/>
            </a:avLst>
          </a:prstGeom>
          <a:solidFill>
            <a:srgbClr val="F8E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4754880" y="4754879"/>
            <a:ext cx="731520" cy="310896"/>
          </a:xfrm>
          <a:prstGeom prst="roundRect">
            <a:avLst>
              <a:gd name="adj" fmla="val 10000"/>
            </a:avLst>
          </a:prstGeom>
          <a:solidFill>
            <a:srgbClr val="F8E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5577840" y="4754879"/>
            <a:ext cx="731520" cy="310896"/>
          </a:xfrm>
          <a:prstGeom prst="roundRect">
            <a:avLst>
              <a:gd name="adj" fmla="val 10000"/>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840480" y="5166360"/>
            <a:ext cx="2743200" cy="822960"/>
          </a:xfrm>
          <a:prstGeom prst="rect">
            <a:avLst/>
          </a:prstGeom>
          <a:noFill/>
        </p:spPr>
        <p:txBody>
          <a:bodyPr wrap="square" anchor="t" lIns="45720" rIns="45720" tIns="27432" bIns="27432">
            <a:spAutoFit/>
          </a:bodyPr>
          <a:lstStyle/>
          <a:p>
            <a:pPr algn="ctr"/>
            <a:r>
              <a:rPr sz="1600" b="1" i="0">
                <a:solidFill>
                  <a:srgbClr val="14213D"/>
                </a:solidFill>
                <a:latin typeface="Calibri"/>
              </a:rPr>
              <a:t>Specialised model: each block matters for one skill</a:t>
            </a:r>
          </a:p>
        </p:txBody>
      </p:sp>
      <p:sp>
        <p:nvSpPr>
          <p:cNvPr id="50" name="Rounded Rectangle 49"/>
          <p:cNvSpPr/>
          <p:nvPr/>
        </p:nvSpPr>
        <p:spPr>
          <a:xfrm>
            <a:off x="7040880" y="2011680"/>
            <a:ext cx="4663440" cy="4206240"/>
          </a:xfrm>
          <a:prstGeom prst="roundRect">
            <a:avLst>
              <a:gd name="adj" fmla="val 8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269480" y="2103120"/>
            <a:ext cx="4297680" cy="1737360"/>
          </a:xfrm>
          <a:prstGeom prst="rect">
            <a:avLst/>
          </a:prstGeom>
          <a:noFill/>
        </p:spPr>
        <p:txBody>
          <a:bodyPr wrap="square" anchor="t" lIns="45720" rIns="45720" tIns="27432" bIns="27432">
            <a:spAutoFit/>
          </a:bodyPr>
          <a:lstStyle/>
          <a:p>
            <a:pPr algn="l"/>
            <a:r>
              <a:rPr sz="1800" b="0" i="0">
                <a:solidFill>
                  <a:srgbClr val="1B1F2A"/>
                </a:solidFill>
                <a:latin typeface="Calibri"/>
              </a:rPr>
              <a:t>Each row: one block switched off.</a:t>
            </a:r>
          </a:p>
          <a:p>
            <a:pPr algn="l"/>
            <a:r>
              <a:rPr sz="1800" b="0" i="0">
                <a:solidFill>
                  <a:srgbClr val="1B1F2A"/>
                </a:solidFill>
                <a:latin typeface="Calibri"/>
              </a:rPr>
              <a:t>Colour: how much the error rises for each skill.</a:t>
            </a:r>
          </a:p>
        </p:txBody>
      </p:sp>
      <p:sp>
        <p:nvSpPr>
          <p:cNvPr id="52" name="TextBox 51"/>
          <p:cNvSpPr txBox="1"/>
          <p:nvPr/>
        </p:nvSpPr>
        <p:spPr>
          <a:xfrm>
            <a:off x="7269480" y="3520440"/>
            <a:ext cx="4297680" cy="457200"/>
          </a:xfrm>
          <a:prstGeom prst="rect">
            <a:avLst/>
          </a:prstGeom>
          <a:noFill/>
        </p:spPr>
        <p:txBody>
          <a:bodyPr wrap="square" anchor="t" lIns="45720" rIns="45720" tIns="27432" bIns="27432">
            <a:spAutoFit/>
          </a:bodyPr>
          <a:lstStyle/>
          <a:p>
            <a:pPr algn="l"/>
            <a:r>
              <a:rPr sz="2200" b="1" i="0">
                <a:solidFill>
                  <a:srgbClr val="14213D"/>
                </a:solidFill>
                <a:latin typeface="Calibri"/>
              </a:rPr>
              <a:t>Specialization score S</a:t>
            </a:r>
          </a:p>
        </p:txBody>
      </p:sp>
      <p:sp>
        <p:nvSpPr>
          <p:cNvPr id="53" name="Rounded Rectangle 52"/>
          <p:cNvSpPr/>
          <p:nvPr/>
        </p:nvSpPr>
        <p:spPr>
          <a:xfrm>
            <a:off x="7269480" y="4114800"/>
            <a:ext cx="822960" cy="457200"/>
          </a:xfrm>
          <a:prstGeom prst="roundRect">
            <a:avLst>
              <a:gd name="adj" fmla="val 10000"/>
            </a:avLst>
          </a:prstGeom>
          <a:solidFill>
            <a:srgbClr val="DCE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8129016" y="4114800"/>
            <a:ext cx="822960" cy="457200"/>
          </a:xfrm>
          <a:prstGeom prst="roundRect">
            <a:avLst>
              <a:gd name="adj" fmla="val 10000"/>
            </a:avLst>
          </a:prstGeom>
          <a:solidFill>
            <a:srgbClr val="B3D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8988552" y="4114800"/>
            <a:ext cx="822960" cy="457200"/>
          </a:xfrm>
          <a:prstGeom prst="roundRect">
            <a:avLst>
              <a:gd name="adj" fmla="val 10000"/>
            </a:avLst>
          </a:prstGeom>
          <a:solidFill>
            <a:srgbClr val="7FB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9848088" y="4114800"/>
            <a:ext cx="822960" cy="457200"/>
          </a:xfrm>
          <a:prstGeom prst="roundRect">
            <a:avLst>
              <a:gd name="adj" fmla="val 10000"/>
            </a:avLst>
          </a:prstGeom>
          <a:solidFill>
            <a:srgbClr val="4D9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10707624" y="4114800"/>
            <a:ext cx="822960" cy="457200"/>
          </a:xfrm>
          <a:prstGeom prst="roundRect">
            <a:avLst>
              <a:gd name="adj" fmla="val 10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223760" y="4663440"/>
            <a:ext cx="2194560" cy="822960"/>
          </a:xfrm>
          <a:prstGeom prst="rect">
            <a:avLst/>
          </a:prstGeom>
          <a:noFill/>
        </p:spPr>
        <p:txBody>
          <a:bodyPr wrap="square" anchor="t" lIns="45720" rIns="45720" tIns="27432" bIns="27432">
            <a:spAutoFit/>
          </a:bodyPr>
          <a:lstStyle/>
          <a:p>
            <a:pPr algn="l"/>
            <a:r>
              <a:rPr sz="1600" b="0" i="0">
                <a:solidFill>
                  <a:srgbClr val="1B1F2A"/>
                </a:solidFill>
                <a:latin typeface="Calibri"/>
              </a:rPr>
              <a:t>S = 0</a:t>
            </a:r>
          </a:p>
          <a:p>
            <a:pPr algn="l"/>
            <a:r>
              <a:rPr sz="1600" b="0" i="0">
                <a:solidFill>
                  <a:srgbClr val="1B1F2A"/>
                </a:solidFill>
                <a:latin typeface="Calibri"/>
              </a:rPr>
              <a:t>skill shared by all</a:t>
            </a:r>
          </a:p>
        </p:txBody>
      </p:sp>
      <p:sp>
        <p:nvSpPr>
          <p:cNvPr id="59" name="TextBox 58"/>
          <p:cNvSpPr txBox="1"/>
          <p:nvPr/>
        </p:nvSpPr>
        <p:spPr>
          <a:xfrm>
            <a:off x="9509760" y="4663440"/>
            <a:ext cx="2148840" cy="822960"/>
          </a:xfrm>
          <a:prstGeom prst="rect">
            <a:avLst/>
          </a:prstGeom>
          <a:noFill/>
        </p:spPr>
        <p:txBody>
          <a:bodyPr wrap="square" anchor="t" lIns="45720" rIns="45720" tIns="27432" bIns="27432">
            <a:spAutoFit/>
          </a:bodyPr>
          <a:lstStyle/>
          <a:p>
            <a:pPr algn="r"/>
            <a:r>
              <a:rPr sz="1600" b="0" i="0">
                <a:solidFill>
                  <a:srgbClr val="1B1F2A"/>
                </a:solidFill>
                <a:latin typeface="Calibri"/>
              </a:rPr>
              <a:t>S = 1</a:t>
            </a:r>
          </a:p>
          <a:p>
            <a:pPr algn="r"/>
            <a:r>
              <a:rPr sz="1600" b="0" i="0">
                <a:solidFill>
                  <a:srgbClr val="1B1F2A"/>
                </a:solidFill>
                <a:latin typeface="Calibri"/>
              </a:rPr>
              <a:t>one skill only</a:t>
            </a:r>
          </a:p>
        </p:txBody>
      </p:sp>
      <p:sp>
        <p:nvSpPr>
          <p:cNvPr id="60" name="TextBox 59"/>
          <p:cNvSpPr txBox="1"/>
          <p:nvPr/>
        </p:nvSpPr>
        <p:spPr>
          <a:xfrm>
            <a:off x="7269480" y="5440680"/>
            <a:ext cx="4297680" cy="731520"/>
          </a:xfrm>
          <a:prstGeom prst="rect">
            <a:avLst/>
          </a:prstGeom>
          <a:noFill/>
        </p:spPr>
        <p:txBody>
          <a:bodyPr wrap="square" anchor="t" lIns="45720" rIns="45720" tIns="27432" bIns="27432">
            <a:spAutoFit/>
          </a:bodyPr>
          <a:lstStyle/>
          <a:p>
            <a:pPr algn="l"/>
            <a:r>
              <a:rPr sz="1800" b="1" i="0">
                <a:solidFill>
                  <a:srgbClr val="14213D"/>
                </a:solidFill>
                <a:latin typeface="Calibri"/>
              </a:rPr>
              <a:t>High S: switching off that block removes one skill.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20040"/>
            <a:ext cx="11064240" cy="822960"/>
          </a:xfrm>
          <a:prstGeom prst="rect">
            <a:avLst/>
          </a:prstGeom>
          <a:noFill/>
        </p:spPr>
        <p:txBody>
          <a:bodyPr wrap="square" anchor="ctr" lIns="45720" rIns="45720" tIns="27432" bIns="27432">
            <a:spAutoFit/>
          </a:bodyPr>
          <a:lstStyle/>
          <a:p>
            <a:pPr algn="l"/>
            <a:r>
              <a:rPr sz="3600" b="1" i="0">
                <a:solidFill>
                  <a:srgbClr val="14213D"/>
                </a:solidFill>
                <a:latin typeface="Cambria"/>
              </a:rPr>
              <a:t>What we built</a:t>
            </a:r>
          </a:p>
        </p:txBody>
      </p:sp>
      <p:sp>
        <p:nvSpPr>
          <p:cNvPr id="3" name="TextBox 2"/>
          <p:cNvSpPr txBox="1"/>
          <p:nvPr/>
        </p:nvSpPr>
        <p:spPr>
          <a:xfrm>
            <a:off x="10881360" y="6400800"/>
            <a:ext cx="822960" cy="274320"/>
          </a:xfrm>
          <a:prstGeom prst="rect">
            <a:avLst/>
          </a:prstGeom>
          <a:noFill/>
        </p:spPr>
        <p:txBody>
          <a:bodyPr wrap="square" anchor="t" lIns="45720" rIns="45720" tIns="27432" bIns="27432">
            <a:spAutoFit/>
          </a:bodyPr>
          <a:lstStyle/>
          <a:p>
            <a:pPr algn="r"/>
            <a:r>
              <a:rPr sz="1200" b="0" i="0">
                <a:solidFill>
                  <a:srgbClr val="5B6475"/>
                </a:solidFill>
                <a:latin typeface="Calibri"/>
              </a:rPr>
              <a:t>7 / 10</a:t>
            </a:r>
          </a:p>
        </p:txBody>
      </p:sp>
      <p:sp>
        <p:nvSpPr>
          <p:cNvPr id="4" name="Rounded Rectangle 3"/>
          <p:cNvSpPr/>
          <p:nvPr/>
        </p:nvSpPr>
        <p:spPr>
          <a:xfrm>
            <a:off x="457200" y="1325880"/>
            <a:ext cx="3291840" cy="1234440"/>
          </a:xfrm>
          <a:prstGeom prst="roundRect">
            <a:avLst>
              <a:gd name="adj" fmla="val 8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371600"/>
            <a:ext cx="3017520" cy="594360"/>
          </a:xfrm>
          <a:prstGeom prst="rect">
            <a:avLst/>
          </a:prstGeom>
          <a:noFill/>
        </p:spPr>
        <p:txBody>
          <a:bodyPr wrap="square" anchor="t" lIns="45720" rIns="45720" tIns="27432" bIns="27432">
            <a:spAutoFit/>
          </a:bodyPr>
          <a:lstStyle/>
          <a:p>
            <a:pPr algn="l"/>
            <a:r>
              <a:rPr sz="3400" b="1" i="0">
                <a:solidFill>
                  <a:srgbClr val="14213D"/>
                </a:solidFill>
                <a:latin typeface="Cambria"/>
              </a:rPr>
              <a:t>10.6M</a:t>
            </a:r>
          </a:p>
        </p:txBody>
      </p:sp>
      <p:sp>
        <p:nvSpPr>
          <p:cNvPr id="6" name="TextBox 5"/>
          <p:cNvSpPr txBox="1"/>
          <p:nvPr/>
        </p:nvSpPr>
        <p:spPr>
          <a:xfrm>
            <a:off x="594360" y="1965960"/>
            <a:ext cx="3017520" cy="594360"/>
          </a:xfrm>
          <a:prstGeom prst="rect">
            <a:avLst/>
          </a:prstGeom>
          <a:noFill/>
        </p:spPr>
        <p:txBody>
          <a:bodyPr wrap="square" anchor="t" lIns="45720" rIns="45720" tIns="27432" bIns="27432">
            <a:spAutoFit/>
          </a:bodyPr>
          <a:lstStyle/>
          <a:p>
            <a:pPr algn="l"/>
            <a:r>
              <a:rPr sz="1400" b="0" i="0">
                <a:solidFill>
                  <a:srgbClr val="5B6475"/>
                </a:solidFill>
                <a:latin typeface="Calibri"/>
              </a:rPr>
              <a:t>learned numbers</a:t>
            </a:r>
          </a:p>
          <a:p>
            <a:pPr algn="l"/>
            <a:r>
              <a:rPr sz="1400" b="0" i="0">
                <a:solidFill>
                  <a:srgbClr val="5B6475"/>
                </a:solidFill>
                <a:latin typeface="Calibri"/>
              </a:rPr>
              <a:t>(29.9M with word table)</a:t>
            </a:r>
          </a:p>
        </p:txBody>
      </p:sp>
      <p:sp>
        <p:nvSpPr>
          <p:cNvPr id="7" name="Rounded Rectangle 6"/>
          <p:cNvSpPr/>
          <p:nvPr/>
        </p:nvSpPr>
        <p:spPr>
          <a:xfrm>
            <a:off x="457200" y="2697480"/>
            <a:ext cx="3291840" cy="1234440"/>
          </a:xfrm>
          <a:prstGeom prst="roundRect">
            <a:avLst>
              <a:gd name="adj" fmla="val 8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743200"/>
            <a:ext cx="3017520" cy="594360"/>
          </a:xfrm>
          <a:prstGeom prst="rect">
            <a:avLst/>
          </a:prstGeom>
          <a:noFill/>
        </p:spPr>
        <p:txBody>
          <a:bodyPr wrap="square" anchor="t" lIns="45720" rIns="45720" tIns="27432" bIns="27432">
            <a:spAutoFit/>
          </a:bodyPr>
          <a:lstStyle/>
          <a:p>
            <a:pPr algn="l"/>
            <a:r>
              <a:rPr sz="3400" b="1" i="0">
                <a:solidFill>
                  <a:srgbClr val="14213D"/>
                </a:solidFill>
                <a:latin typeface="Cambria"/>
              </a:rPr>
              <a:t>6 × 8 = 48</a:t>
            </a:r>
          </a:p>
        </p:txBody>
      </p:sp>
      <p:sp>
        <p:nvSpPr>
          <p:cNvPr id="9" name="TextBox 8"/>
          <p:cNvSpPr txBox="1"/>
          <p:nvPr/>
        </p:nvSpPr>
        <p:spPr>
          <a:xfrm>
            <a:off x="594360" y="3337560"/>
            <a:ext cx="3017520" cy="594360"/>
          </a:xfrm>
          <a:prstGeom prst="rect">
            <a:avLst/>
          </a:prstGeom>
          <a:noFill/>
        </p:spPr>
        <p:txBody>
          <a:bodyPr wrap="square" anchor="t" lIns="45720" rIns="45720" tIns="27432" bIns="27432">
            <a:spAutoFit/>
          </a:bodyPr>
          <a:lstStyle/>
          <a:p>
            <a:pPr algn="l"/>
            <a:r>
              <a:rPr sz="1400" b="0" i="0">
                <a:solidFill>
                  <a:srgbClr val="5B6475"/>
                </a:solidFill>
                <a:latin typeface="Calibri"/>
              </a:rPr>
              <a:t>layers × blocks to study</a:t>
            </a:r>
          </a:p>
        </p:txBody>
      </p:sp>
      <p:sp>
        <p:nvSpPr>
          <p:cNvPr id="10" name="Rounded Rectangle 9"/>
          <p:cNvSpPr/>
          <p:nvPr/>
        </p:nvSpPr>
        <p:spPr>
          <a:xfrm>
            <a:off x="457200" y="4069080"/>
            <a:ext cx="3291840" cy="1234440"/>
          </a:xfrm>
          <a:prstGeom prst="roundRect">
            <a:avLst>
              <a:gd name="adj" fmla="val 8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114800"/>
            <a:ext cx="3017520" cy="594360"/>
          </a:xfrm>
          <a:prstGeom prst="rect">
            <a:avLst/>
          </a:prstGeom>
          <a:noFill/>
        </p:spPr>
        <p:txBody>
          <a:bodyPr wrap="square" anchor="t" lIns="45720" rIns="45720" tIns="27432" bIns="27432">
            <a:spAutoFit/>
          </a:bodyPr>
          <a:lstStyle/>
          <a:p>
            <a:pPr algn="l"/>
            <a:r>
              <a:rPr sz="3400" b="1" i="0">
                <a:solidFill>
                  <a:srgbClr val="14213D"/>
                </a:solidFill>
                <a:latin typeface="Cambria"/>
              </a:rPr>
              <a:t>19 min</a:t>
            </a:r>
          </a:p>
        </p:txBody>
      </p:sp>
      <p:sp>
        <p:nvSpPr>
          <p:cNvPr id="12" name="TextBox 11"/>
          <p:cNvSpPr txBox="1"/>
          <p:nvPr/>
        </p:nvSpPr>
        <p:spPr>
          <a:xfrm>
            <a:off x="594360" y="4709160"/>
            <a:ext cx="3017520" cy="594360"/>
          </a:xfrm>
          <a:prstGeom prst="rect">
            <a:avLst/>
          </a:prstGeom>
          <a:noFill/>
        </p:spPr>
        <p:txBody>
          <a:bodyPr wrap="square" anchor="t" lIns="45720" rIns="45720" tIns="27432" bIns="27432">
            <a:spAutoFit/>
          </a:bodyPr>
          <a:lstStyle/>
          <a:p>
            <a:pPr algn="l"/>
            <a:r>
              <a:rPr sz="1400" b="0" i="0">
                <a:solidFill>
                  <a:srgbClr val="5B6475"/>
                </a:solidFill>
                <a:latin typeface="Calibri"/>
              </a:rPr>
              <a:t>to train on a free</a:t>
            </a:r>
          </a:p>
          <a:p>
            <a:pPr algn="l"/>
            <a:r>
              <a:rPr sz="1400" b="0" i="0">
                <a:solidFill>
                  <a:srgbClr val="5B6475"/>
                </a:solidFill>
                <a:latin typeface="Calibri"/>
              </a:rPr>
              <a:t>Kaggle T4 GPU</a:t>
            </a:r>
          </a:p>
        </p:txBody>
      </p:sp>
      <p:sp>
        <p:nvSpPr>
          <p:cNvPr id="13" name="Rounded Rectangle 12"/>
          <p:cNvSpPr/>
          <p:nvPr/>
        </p:nvSpPr>
        <p:spPr>
          <a:xfrm>
            <a:off x="4023360" y="1325880"/>
            <a:ext cx="2423160" cy="3977639"/>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60520" y="1417320"/>
            <a:ext cx="2148840" cy="548640"/>
          </a:xfrm>
          <a:prstGeom prst="rect">
            <a:avLst/>
          </a:prstGeom>
          <a:noFill/>
        </p:spPr>
        <p:txBody>
          <a:bodyPr wrap="square" anchor="t" lIns="45720" rIns="45720" tIns="27432" bIns="27432">
            <a:spAutoFit/>
          </a:bodyPr>
          <a:lstStyle/>
          <a:p>
            <a:pPr algn="l"/>
            <a:r>
              <a:rPr sz="2600" b="1" i="0">
                <a:solidFill>
                  <a:srgbClr val="FFFFFF"/>
                </a:solidFill>
                <a:latin typeface="Cambria"/>
              </a:rPr>
              <a:t>Stories</a:t>
            </a:r>
          </a:p>
        </p:txBody>
      </p:sp>
      <p:sp>
        <p:nvSpPr>
          <p:cNvPr id="15" name="TextBox 14"/>
          <p:cNvSpPr txBox="1"/>
          <p:nvPr/>
        </p:nvSpPr>
        <p:spPr>
          <a:xfrm>
            <a:off x="4160520" y="2057400"/>
            <a:ext cx="2148840" cy="731520"/>
          </a:xfrm>
          <a:prstGeom prst="rect">
            <a:avLst/>
          </a:prstGeom>
          <a:noFill/>
        </p:spPr>
        <p:txBody>
          <a:bodyPr wrap="square" anchor="t" lIns="45720" rIns="45720" tIns="27432" bIns="27432">
            <a:spAutoFit/>
          </a:bodyPr>
          <a:lstStyle/>
          <a:p>
            <a:pPr algn="l"/>
            <a:r>
              <a:rPr sz="1800" b="1" i="0">
                <a:solidFill>
                  <a:srgbClr val="FFFFFF"/>
                </a:solidFill>
                <a:latin typeface="Calibri"/>
              </a:rPr>
              <a:t>TinyStories</a:t>
            </a:r>
          </a:p>
        </p:txBody>
      </p:sp>
      <p:sp>
        <p:nvSpPr>
          <p:cNvPr id="16" name="TextBox 15"/>
          <p:cNvSpPr txBox="1"/>
          <p:nvPr/>
        </p:nvSpPr>
        <p:spPr>
          <a:xfrm>
            <a:off x="4160520" y="2788920"/>
            <a:ext cx="2148840" cy="457200"/>
          </a:xfrm>
          <a:prstGeom prst="rect">
            <a:avLst/>
          </a:prstGeom>
          <a:noFill/>
        </p:spPr>
        <p:txBody>
          <a:bodyPr wrap="square" anchor="t" lIns="45720" rIns="45720" tIns="27432" bIns="27432">
            <a:spAutoFit/>
          </a:bodyPr>
          <a:lstStyle/>
          <a:p>
            <a:pPr algn="l"/>
            <a:r>
              <a:rPr sz="1800" b="0" i="0">
                <a:solidFill>
                  <a:srgbClr val="FFFFFF"/>
                </a:solidFill>
                <a:latin typeface="Calibri"/>
              </a:rPr>
              <a:t>20.0M tokens</a:t>
            </a:r>
          </a:p>
        </p:txBody>
      </p:sp>
      <p:sp>
        <p:nvSpPr>
          <p:cNvPr id="17" name="Rounded Rectangle 16"/>
          <p:cNvSpPr/>
          <p:nvPr/>
        </p:nvSpPr>
        <p:spPr>
          <a:xfrm>
            <a:off x="4160520" y="3520440"/>
            <a:ext cx="2148840" cy="1600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a:solidFill>
                  <a:srgbClr val="1B1F2A"/>
                </a:solidFill>
                <a:latin typeface="Calibri"/>
              </a:rPr>
              <a:t>“Once upon a time there lived a little girl…”</a:t>
            </a:r>
          </a:p>
        </p:txBody>
      </p:sp>
      <p:sp>
        <p:nvSpPr>
          <p:cNvPr id="18" name="Rounded Rectangle 17"/>
          <p:cNvSpPr/>
          <p:nvPr/>
        </p:nvSpPr>
        <p:spPr>
          <a:xfrm>
            <a:off x="6583680" y="1325880"/>
            <a:ext cx="2423160" cy="3977639"/>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20840" y="1417320"/>
            <a:ext cx="2148840" cy="548640"/>
          </a:xfrm>
          <a:prstGeom prst="rect">
            <a:avLst/>
          </a:prstGeom>
          <a:noFill/>
        </p:spPr>
        <p:txBody>
          <a:bodyPr wrap="square" anchor="t" lIns="45720" rIns="45720" tIns="27432" bIns="27432">
            <a:spAutoFit/>
          </a:bodyPr>
          <a:lstStyle/>
          <a:p>
            <a:pPr algn="l"/>
            <a:r>
              <a:rPr sz="2600" b="1" i="0">
                <a:solidFill>
                  <a:srgbClr val="FFFFFF"/>
                </a:solidFill>
                <a:latin typeface="Cambria"/>
              </a:rPr>
              <a:t>Math</a:t>
            </a:r>
          </a:p>
        </p:txBody>
      </p:sp>
      <p:sp>
        <p:nvSpPr>
          <p:cNvPr id="20" name="TextBox 19"/>
          <p:cNvSpPr txBox="1"/>
          <p:nvPr/>
        </p:nvSpPr>
        <p:spPr>
          <a:xfrm>
            <a:off x="6720840" y="2057400"/>
            <a:ext cx="2148840" cy="731520"/>
          </a:xfrm>
          <a:prstGeom prst="rect">
            <a:avLst/>
          </a:prstGeom>
          <a:noFill/>
        </p:spPr>
        <p:txBody>
          <a:bodyPr wrap="square" anchor="t" lIns="45720" rIns="45720" tIns="27432" bIns="27432">
            <a:spAutoFit/>
          </a:bodyPr>
          <a:lstStyle/>
          <a:p>
            <a:pPr algn="l"/>
            <a:r>
              <a:rPr sz="1800" b="1" i="0">
                <a:solidFill>
                  <a:srgbClr val="FFFFFF"/>
                </a:solidFill>
                <a:latin typeface="Calibri"/>
              </a:rPr>
              <a:t>Our own generator</a:t>
            </a:r>
          </a:p>
        </p:txBody>
      </p:sp>
      <p:sp>
        <p:nvSpPr>
          <p:cNvPr id="21" name="TextBox 20"/>
          <p:cNvSpPr txBox="1"/>
          <p:nvPr/>
        </p:nvSpPr>
        <p:spPr>
          <a:xfrm>
            <a:off x="6720840" y="2788920"/>
            <a:ext cx="2148840" cy="457200"/>
          </a:xfrm>
          <a:prstGeom prst="rect">
            <a:avLst/>
          </a:prstGeom>
          <a:noFill/>
        </p:spPr>
        <p:txBody>
          <a:bodyPr wrap="square" anchor="t" lIns="45720" rIns="45720" tIns="27432" bIns="27432">
            <a:spAutoFit/>
          </a:bodyPr>
          <a:lstStyle/>
          <a:p>
            <a:pPr algn="l"/>
            <a:r>
              <a:rPr sz="1800" b="0" i="0">
                <a:solidFill>
                  <a:srgbClr val="FFFFFF"/>
                </a:solidFill>
                <a:latin typeface="Calibri"/>
              </a:rPr>
              <a:t>10.0M tokens</a:t>
            </a:r>
          </a:p>
        </p:txBody>
      </p:sp>
      <p:sp>
        <p:nvSpPr>
          <p:cNvPr id="22" name="Rounded Rectangle 21"/>
          <p:cNvSpPr/>
          <p:nvPr/>
        </p:nvSpPr>
        <p:spPr>
          <a:xfrm>
            <a:off x="6720840" y="3520440"/>
            <a:ext cx="2148840" cy="1600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a:solidFill>
                  <a:srgbClr val="1B1F2A"/>
                </a:solidFill>
                <a:latin typeface="Calibri"/>
              </a:rPr>
              <a:t>Q: 347 + 589 = A: 936</a:t>
            </a:r>
          </a:p>
        </p:txBody>
      </p:sp>
      <p:sp>
        <p:nvSpPr>
          <p:cNvPr id="23" name="Rounded Rectangle 22"/>
          <p:cNvSpPr/>
          <p:nvPr/>
        </p:nvSpPr>
        <p:spPr>
          <a:xfrm>
            <a:off x="9144000" y="1325880"/>
            <a:ext cx="2423160" cy="3977639"/>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81160" y="1417320"/>
            <a:ext cx="2148840" cy="548640"/>
          </a:xfrm>
          <a:prstGeom prst="rect">
            <a:avLst/>
          </a:prstGeom>
          <a:noFill/>
        </p:spPr>
        <p:txBody>
          <a:bodyPr wrap="square" anchor="t" lIns="45720" rIns="45720" tIns="27432" bIns="27432">
            <a:spAutoFit/>
          </a:bodyPr>
          <a:lstStyle/>
          <a:p>
            <a:pPr algn="l"/>
            <a:r>
              <a:rPr sz="2600" b="1" i="0">
                <a:solidFill>
                  <a:srgbClr val="FFFFFF"/>
                </a:solidFill>
                <a:latin typeface="Cambria"/>
              </a:rPr>
              <a:t>Code</a:t>
            </a:r>
          </a:p>
        </p:txBody>
      </p:sp>
      <p:sp>
        <p:nvSpPr>
          <p:cNvPr id="25" name="TextBox 24"/>
          <p:cNvSpPr txBox="1"/>
          <p:nvPr/>
        </p:nvSpPr>
        <p:spPr>
          <a:xfrm>
            <a:off x="9281160" y="2057400"/>
            <a:ext cx="2148840" cy="731520"/>
          </a:xfrm>
          <a:prstGeom prst="rect">
            <a:avLst/>
          </a:prstGeom>
          <a:noFill/>
        </p:spPr>
        <p:txBody>
          <a:bodyPr wrap="square" anchor="t" lIns="45720" rIns="45720" tIns="27432" bIns="27432">
            <a:spAutoFit/>
          </a:bodyPr>
          <a:lstStyle/>
          <a:p>
            <a:pPr algn="l"/>
            <a:r>
              <a:rPr sz="1800" b="1" i="0">
                <a:solidFill>
                  <a:srgbClr val="FFFFFF"/>
                </a:solidFill>
                <a:latin typeface="Calibri"/>
              </a:rPr>
              <a:t>CodeParrot (Python)</a:t>
            </a:r>
          </a:p>
        </p:txBody>
      </p:sp>
      <p:sp>
        <p:nvSpPr>
          <p:cNvPr id="26" name="TextBox 25"/>
          <p:cNvSpPr txBox="1"/>
          <p:nvPr/>
        </p:nvSpPr>
        <p:spPr>
          <a:xfrm>
            <a:off x="9281160" y="2788920"/>
            <a:ext cx="2148840" cy="457200"/>
          </a:xfrm>
          <a:prstGeom prst="rect">
            <a:avLst/>
          </a:prstGeom>
          <a:noFill/>
        </p:spPr>
        <p:txBody>
          <a:bodyPr wrap="square" anchor="t" lIns="45720" rIns="45720" tIns="27432" bIns="27432">
            <a:spAutoFit/>
          </a:bodyPr>
          <a:lstStyle/>
          <a:p>
            <a:pPr algn="l"/>
            <a:r>
              <a:rPr sz="1800" b="0" i="0">
                <a:solidFill>
                  <a:srgbClr val="FFFFFF"/>
                </a:solidFill>
                <a:latin typeface="Calibri"/>
              </a:rPr>
              <a:t>10.6M tokens</a:t>
            </a:r>
          </a:p>
        </p:txBody>
      </p:sp>
      <p:sp>
        <p:nvSpPr>
          <p:cNvPr id="27" name="Rounded Rectangle 26"/>
          <p:cNvSpPr/>
          <p:nvPr/>
        </p:nvSpPr>
        <p:spPr>
          <a:xfrm>
            <a:off x="9281160" y="3520440"/>
            <a:ext cx="2148840" cy="16002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a:solidFill>
                  <a:srgbClr val="1B1F2A"/>
                </a:solidFill>
                <a:latin typeface="Calibri"/>
              </a:rPr>
              <a:t>def add(a, b): …</a:t>
            </a:r>
          </a:p>
        </p:txBody>
      </p:sp>
      <p:sp>
        <p:nvSpPr>
          <p:cNvPr id="28" name="TextBox 27"/>
          <p:cNvSpPr txBox="1"/>
          <p:nvPr/>
        </p:nvSpPr>
        <p:spPr>
          <a:xfrm>
            <a:off x="4023360" y="5349240"/>
            <a:ext cx="7680960" cy="365760"/>
          </a:xfrm>
          <a:prstGeom prst="rect">
            <a:avLst/>
          </a:prstGeom>
          <a:noFill/>
        </p:spPr>
        <p:txBody>
          <a:bodyPr wrap="square" anchor="t" lIns="45720" rIns="45720" tIns="27432" bIns="27432">
            <a:spAutoFit/>
          </a:bodyPr>
          <a:lstStyle/>
          <a:p>
            <a:pPr algn="l"/>
            <a:r>
              <a:rPr sz="1400" b="0" i="0">
                <a:solidFill>
                  <a:srgbClr val="5B6475"/>
                </a:solidFill>
                <a:latin typeface="Calibri"/>
              </a:rPr>
              <a:t>Token = a word piece. 40.6M tokens in total.</a:t>
            </a:r>
          </a:p>
        </p:txBody>
      </p:sp>
      <p:sp>
        <p:nvSpPr>
          <p:cNvPr id="29" name="Rounded Rectangle 28"/>
          <p:cNvSpPr/>
          <p:nvPr/>
        </p:nvSpPr>
        <p:spPr>
          <a:xfrm>
            <a:off x="457200" y="5806440"/>
            <a:ext cx="1371600" cy="457200"/>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a:solidFill>
                  <a:srgbClr val="FFFFFF"/>
                </a:solidFill>
                <a:latin typeface="Calibri"/>
              </a:rPr>
              <a:t>Python</a:t>
            </a:r>
          </a:p>
        </p:txBody>
      </p:sp>
      <p:sp>
        <p:nvSpPr>
          <p:cNvPr id="30" name="Rounded Rectangle 29"/>
          <p:cNvSpPr/>
          <p:nvPr/>
        </p:nvSpPr>
        <p:spPr>
          <a:xfrm>
            <a:off x="1965960" y="5806440"/>
            <a:ext cx="1463040" cy="457200"/>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a:solidFill>
                  <a:srgbClr val="FFFFFF"/>
                </a:solidFill>
                <a:latin typeface="Calibri"/>
              </a:rPr>
              <a:t>PyTorch</a:t>
            </a:r>
          </a:p>
        </p:txBody>
      </p:sp>
      <p:sp>
        <p:nvSpPr>
          <p:cNvPr id="31" name="Rounded Rectangle 30"/>
          <p:cNvSpPr/>
          <p:nvPr/>
        </p:nvSpPr>
        <p:spPr>
          <a:xfrm>
            <a:off x="3566160" y="5806440"/>
            <a:ext cx="2377440" cy="457200"/>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a:solidFill>
                  <a:srgbClr val="FFFFFF"/>
                </a:solidFill>
                <a:latin typeface="Calibri"/>
              </a:rPr>
              <a:t>nanoGPT-style GPT</a:t>
            </a:r>
          </a:p>
        </p:txBody>
      </p:sp>
      <p:sp>
        <p:nvSpPr>
          <p:cNvPr id="32" name="Rounded Rectangle 31"/>
          <p:cNvSpPr/>
          <p:nvPr/>
        </p:nvSpPr>
        <p:spPr>
          <a:xfrm>
            <a:off x="6080760" y="5806440"/>
            <a:ext cx="1920240" cy="457200"/>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a:solidFill>
                  <a:srgbClr val="FFFFFF"/>
                </a:solidFill>
                <a:latin typeface="Calibri"/>
              </a:rPr>
              <a:t>Kaggle T4 GPU</a:t>
            </a:r>
          </a:p>
        </p:txBody>
      </p:sp>
      <p:sp>
        <p:nvSpPr>
          <p:cNvPr id="33" name="Rounded Rectangle 32"/>
          <p:cNvSpPr/>
          <p:nvPr/>
        </p:nvSpPr>
        <p:spPr>
          <a:xfrm>
            <a:off x="8138160" y="5806440"/>
            <a:ext cx="1280160" cy="457200"/>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a:solidFill>
                  <a:srgbClr val="FFFFFF"/>
                </a:solidFill>
                <a:latin typeface="Calibri"/>
              </a:rPr>
              <a:t>GitHub</a:t>
            </a:r>
          </a:p>
        </p:txBody>
      </p:sp>
      <p:sp>
        <p:nvSpPr>
          <p:cNvPr id="34" name="Rounded Rectangle 33"/>
          <p:cNvSpPr/>
          <p:nvPr/>
        </p:nvSpPr>
        <p:spPr>
          <a:xfrm>
            <a:off x="9464040" y="5760720"/>
            <a:ext cx="2240280" cy="54864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800" b="1">
                <a:solidFill>
                  <a:srgbClr val="FFFFFF"/>
                </a:solidFill>
                <a:latin typeface="Calibri"/>
              </a:rPr>
              <a:t>14 / 14 tests pass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20040"/>
            <a:ext cx="11064240" cy="822960"/>
          </a:xfrm>
          <a:prstGeom prst="rect">
            <a:avLst/>
          </a:prstGeom>
          <a:noFill/>
        </p:spPr>
        <p:txBody>
          <a:bodyPr wrap="square" anchor="ctr" lIns="45720" rIns="45720" tIns="27432" bIns="27432">
            <a:spAutoFit/>
          </a:bodyPr>
          <a:lstStyle/>
          <a:p>
            <a:pPr algn="l"/>
            <a:r>
              <a:rPr sz="3600" b="1" i="0">
                <a:solidFill>
                  <a:srgbClr val="14213D"/>
                </a:solidFill>
                <a:latin typeface="Cambria"/>
              </a:rPr>
              <a:t>Results so far</a:t>
            </a:r>
          </a:p>
        </p:txBody>
      </p:sp>
      <p:sp>
        <p:nvSpPr>
          <p:cNvPr id="3" name="TextBox 2"/>
          <p:cNvSpPr txBox="1"/>
          <p:nvPr/>
        </p:nvSpPr>
        <p:spPr>
          <a:xfrm>
            <a:off x="10881360" y="6400800"/>
            <a:ext cx="822960" cy="274320"/>
          </a:xfrm>
          <a:prstGeom prst="rect">
            <a:avLst/>
          </a:prstGeom>
          <a:noFill/>
        </p:spPr>
        <p:txBody>
          <a:bodyPr wrap="square" anchor="t" lIns="45720" rIns="45720" tIns="27432" bIns="27432">
            <a:spAutoFit/>
          </a:bodyPr>
          <a:lstStyle/>
          <a:p>
            <a:pPr algn="r"/>
            <a:r>
              <a:rPr sz="1200" b="0" i="0">
                <a:solidFill>
                  <a:srgbClr val="5B6475"/>
                </a:solidFill>
                <a:latin typeface="Calibri"/>
              </a:rPr>
              <a:t>8 / 10</a:t>
            </a:r>
          </a:p>
        </p:txBody>
      </p:sp>
      <p:pic>
        <p:nvPicPr>
          <p:cNvPr id="4" name="Picture 3" descr="loss_curves.png"/>
          <p:cNvPicPr>
            <a:picLocks noChangeAspect="1"/>
          </p:cNvPicPr>
          <p:nvPr/>
        </p:nvPicPr>
        <p:blipFill>
          <a:blip r:embed="rId2"/>
          <a:stretch>
            <a:fillRect/>
          </a:stretch>
        </p:blipFill>
        <p:spPr>
          <a:xfrm>
            <a:off x="457200" y="1188720"/>
            <a:ext cx="4114800" cy="2514600"/>
          </a:xfrm>
          <a:prstGeom prst="rect">
            <a:avLst/>
          </a:prstGeom>
        </p:spPr>
      </p:pic>
      <p:sp>
        <p:nvSpPr>
          <p:cNvPr id="5" name="TextBox 4"/>
          <p:cNvSpPr txBox="1"/>
          <p:nvPr/>
        </p:nvSpPr>
        <p:spPr>
          <a:xfrm>
            <a:off x="457200" y="3639312"/>
            <a:ext cx="4114800" cy="274320"/>
          </a:xfrm>
          <a:prstGeom prst="rect">
            <a:avLst/>
          </a:prstGeom>
          <a:noFill/>
        </p:spPr>
        <p:txBody>
          <a:bodyPr wrap="square" anchor="t" lIns="45720" rIns="45720" tIns="27432" bIns="27432">
            <a:spAutoFit/>
          </a:bodyPr>
          <a:lstStyle/>
          <a:p>
            <a:pPr algn="l"/>
            <a:r>
              <a:rPr sz="1200" b="0" i="0">
                <a:solidFill>
                  <a:srgbClr val="5B6475"/>
                </a:solidFill>
                <a:latin typeface="Calibri"/>
              </a:rPr>
              <a:t>Loss curves (dense): lower is better</a:t>
            </a:r>
          </a:p>
        </p:txBody>
      </p:sp>
      <p:graphicFrame>
        <p:nvGraphicFramePr>
          <p:cNvPr id="6" name="Table 5"/>
          <p:cNvGraphicFramePr>
            <a:graphicFrameLocks noGrp="1"/>
          </p:cNvGraphicFramePr>
          <p:nvPr/>
        </p:nvGraphicFramePr>
        <p:xfrm>
          <a:off x="457200" y="3977639"/>
          <a:ext cx="4114800" cy="1828800"/>
        </p:xfrm>
        <a:graphic>
          <a:graphicData uri="http://schemas.openxmlformats.org/drawingml/2006/table">
            <a:tbl>
              <a:tblPr firstRow="1" bandRow="1">
                <a:tableStyleId>{5C22544A-7EE6-4342-B048-85BDC9FD1C3A}</a:tableStyleId>
              </a:tblPr>
              <a:tblGrid>
                <a:gridCol w="1554480"/>
                <a:gridCol w="1280160"/>
                <a:gridCol w="1280160"/>
              </a:tblGrid>
              <a:tr h="365760">
                <a:tc>
                  <a:txBody>
                    <a:bodyPr/>
                    <a:lstStyle/>
                    <a:p>
                      <a:pPr algn="l"/>
                      <a:r>
                        <a:rPr sz="1600" b="1">
                          <a:solidFill>
                            <a:srgbClr val="FFFFFF"/>
                          </a:solidFill>
                          <a:latin typeface="Calibri"/>
                        </a:rPr>
                        <a:t/>
                      </a:r>
                    </a:p>
                  </a:txBody>
                  <a:tcPr anchor="ctr" marT="18288" marB="18288">
                    <a:solidFill>
                      <a:srgbClr val="14213D"/>
                    </a:solidFill>
                  </a:tcPr>
                </a:tc>
                <a:tc>
                  <a:txBody>
                    <a:bodyPr/>
                    <a:lstStyle/>
                    <a:p>
                      <a:pPr algn="ctr"/>
                      <a:r>
                        <a:rPr sz="1600" b="1">
                          <a:solidFill>
                            <a:srgbClr val="FFFFFF"/>
                          </a:solidFill>
                          <a:latin typeface="Calibri"/>
                        </a:rPr>
                        <a:t>Dense</a:t>
                      </a:r>
                    </a:p>
                  </a:txBody>
                  <a:tcPr anchor="ctr" marT="18288" marB="18288">
                    <a:solidFill>
                      <a:srgbClr val="14213D"/>
                    </a:solidFill>
                  </a:tcPr>
                </a:tc>
                <a:tc>
                  <a:txBody>
                    <a:bodyPr/>
                    <a:lstStyle/>
                    <a:p>
                      <a:pPr algn="ctr"/>
                      <a:r>
                        <a:rPr sz="1600" b="1">
                          <a:solidFill>
                            <a:srgbClr val="FFFFFF"/>
                          </a:solidFill>
                          <a:latin typeface="Calibri"/>
                        </a:rPr>
                        <a:t>Routed</a:t>
                      </a:r>
                    </a:p>
                  </a:txBody>
                  <a:tcPr anchor="ctr" marT="18288" marB="18288">
                    <a:solidFill>
                      <a:srgbClr val="14213D"/>
                    </a:solidFill>
                  </a:tcPr>
                </a:tc>
              </a:tr>
              <a:tr h="365760">
                <a:tc>
                  <a:txBody>
                    <a:bodyPr/>
                    <a:lstStyle/>
                    <a:p>
                      <a:pPr algn="l"/>
                      <a:r>
                        <a:rPr sz="1600" b="0">
                          <a:solidFill>
                            <a:srgbClr val="1B1F2A"/>
                          </a:solidFill>
                          <a:latin typeface="Calibri"/>
                        </a:rPr>
                        <a:t>Story loss</a:t>
                      </a:r>
                    </a:p>
                  </a:txBody>
                  <a:tcPr anchor="ctr" marT="18288" marB="18288">
                    <a:solidFill>
                      <a:srgbClr val="FFFFFF"/>
                    </a:solidFill>
                  </a:tcPr>
                </a:tc>
                <a:tc>
                  <a:txBody>
                    <a:bodyPr/>
                    <a:lstStyle/>
                    <a:p>
                      <a:pPr algn="ctr"/>
                      <a:r>
                        <a:rPr sz="1600" b="0">
                          <a:solidFill>
                            <a:srgbClr val="1B1F2A"/>
                          </a:solidFill>
                          <a:latin typeface="Calibri"/>
                        </a:rPr>
                        <a:t>2.120</a:t>
                      </a:r>
                    </a:p>
                  </a:txBody>
                  <a:tcPr anchor="ctr" marT="18288" marB="18288">
                    <a:solidFill>
                      <a:srgbClr val="FFFFFF"/>
                    </a:solidFill>
                  </a:tcPr>
                </a:tc>
                <a:tc>
                  <a:txBody>
                    <a:bodyPr/>
                    <a:lstStyle/>
                    <a:p>
                      <a:pPr algn="ctr"/>
                      <a:r>
                        <a:rPr sz="1600" b="0">
                          <a:solidFill>
                            <a:srgbClr val="1B1F2A"/>
                          </a:solidFill>
                          <a:latin typeface="Calibri"/>
                        </a:rPr>
                        <a:t>2.270</a:t>
                      </a:r>
                    </a:p>
                  </a:txBody>
                  <a:tcPr anchor="ctr" marT="18288" marB="18288">
                    <a:solidFill>
                      <a:srgbClr val="FFFFFF"/>
                    </a:solidFill>
                  </a:tcPr>
                </a:tc>
              </a:tr>
              <a:tr h="365760">
                <a:tc>
                  <a:txBody>
                    <a:bodyPr/>
                    <a:lstStyle/>
                    <a:p>
                      <a:pPr algn="l"/>
                      <a:r>
                        <a:rPr sz="1600" b="0">
                          <a:solidFill>
                            <a:srgbClr val="1B1F2A"/>
                          </a:solidFill>
                          <a:latin typeface="Calibri"/>
                        </a:rPr>
                        <a:t>Math loss</a:t>
                      </a:r>
                    </a:p>
                  </a:txBody>
                  <a:tcPr anchor="ctr" marT="18288" marB="18288">
                    <a:solidFill>
                      <a:srgbClr val="F2F4F8"/>
                    </a:solidFill>
                  </a:tcPr>
                </a:tc>
                <a:tc>
                  <a:txBody>
                    <a:bodyPr/>
                    <a:lstStyle/>
                    <a:p>
                      <a:pPr algn="ctr"/>
                      <a:r>
                        <a:rPr sz="1600" b="0">
                          <a:solidFill>
                            <a:srgbClr val="1B1F2A"/>
                          </a:solidFill>
                          <a:latin typeface="Calibri"/>
                        </a:rPr>
                        <a:t>1.467</a:t>
                      </a:r>
                    </a:p>
                  </a:txBody>
                  <a:tcPr anchor="ctr" marT="18288" marB="18288">
                    <a:solidFill>
                      <a:srgbClr val="F2F4F8"/>
                    </a:solidFill>
                  </a:tcPr>
                </a:tc>
                <a:tc>
                  <a:txBody>
                    <a:bodyPr/>
                    <a:lstStyle/>
                    <a:p>
                      <a:pPr algn="ctr"/>
                      <a:r>
                        <a:rPr sz="1600" b="0">
                          <a:solidFill>
                            <a:srgbClr val="1B1F2A"/>
                          </a:solidFill>
                          <a:latin typeface="Calibri"/>
                        </a:rPr>
                        <a:t>1.510</a:t>
                      </a:r>
                    </a:p>
                  </a:txBody>
                  <a:tcPr anchor="ctr" marT="18288" marB="18288">
                    <a:solidFill>
                      <a:srgbClr val="F2F4F8"/>
                    </a:solidFill>
                  </a:tcPr>
                </a:tc>
              </a:tr>
              <a:tr h="365760">
                <a:tc>
                  <a:txBody>
                    <a:bodyPr/>
                    <a:lstStyle/>
                    <a:p>
                      <a:pPr algn="l"/>
                      <a:r>
                        <a:rPr sz="1600" b="0">
                          <a:solidFill>
                            <a:srgbClr val="1B1F2A"/>
                          </a:solidFill>
                          <a:latin typeface="Calibri"/>
                        </a:rPr>
                        <a:t>Code loss</a:t>
                      </a:r>
                    </a:p>
                  </a:txBody>
                  <a:tcPr anchor="ctr" marT="18288" marB="18288">
                    <a:solidFill>
                      <a:srgbClr val="FFFFFF"/>
                    </a:solidFill>
                  </a:tcPr>
                </a:tc>
                <a:tc>
                  <a:txBody>
                    <a:bodyPr/>
                    <a:lstStyle/>
                    <a:p>
                      <a:pPr algn="ctr"/>
                      <a:r>
                        <a:rPr sz="1600" b="0">
                          <a:solidFill>
                            <a:srgbClr val="1B1F2A"/>
                          </a:solidFill>
                          <a:latin typeface="Calibri"/>
                        </a:rPr>
                        <a:t>2.497</a:t>
                      </a:r>
                    </a:p>
                  </a:txBody>
                  <a:tcPr anchor="ctr" marT="18288" marB="18288">
                    <a:solidFill>
                      <a:srgbClr val="FFFFFF"/>
                    </a:solidFill>
                  </a:tcPr>
                </a:tc>
                <a:tc>
                  <a:txBody>
                    <a:bodyPr/>
                    <a:lstStyle/>
                    <a:p>
                      <a:pPr algn="ctr"/>
                      <a:r>
                        <a:rPr sz="1600" b="0">
                          <a:solidFill>
                            <a:srgbClr val="1B1F2A"/>
                          </a:solidFill>
                          <a:latin typeface="Calibri"/>
                        </a:rPr>
                        <a:t>2.659</a:t>
                      </a:r>
                    </a:p>
                  </a:txBody>
                  <a:tcPr anchor="ctr" marT="18288" marB="18288">
                    <a:solidFill>
                      <a:srgbClr val="FFFFFF"/>
                    </a:solidFill>
                  </a:tcPr>
                </a:tc>
              </a:tr>
              <a:tr h="365760">
                <a:tc>
                  <a:txBody>
                    <a:bodyPr/>
                    <a:lstStyle/>
                    <a:p>
                      <a:pPr algn="l"/>
                      <a:r>
                        <a:rPr sz="1600" b="1">
                          <a:solidFill>
                            <a:srgbClr val="1B1F2A"/>
                          </a:solidFill>
                          <a:latin typeface="Calibri"/>
                        </a:rPr>
                        <a:t>Mean S</a:t>
                      </a:r>
                    </a:p>
                  </a:txBody>
                  <a:tcPr anchor="ctr" marT="18288" marB="18288">
                    <a:solidFill>
                      <a:srgbClr val="DCEBFA"/>
                    </a:solidFill>
                  </a:tcPr>
                </a:tc>
                <a:tc>
                  <a:txBody>
                    <a:bodyPr/>
                    <a:lstStyle/>
                    <a:p>
                      <a:pPr algn="ctr"/>
                      <a:r>
                        <a:rPr sz="1600" b="1">
                          <a:solidFill>
                            <a:srgbClr val="1B1F2A"/>
                          </a:solidFill>
                          <a:latin typeface="Calibri"/>
                        </a:rPr>
                        <a:t>0.051</a:t>
                      </a:r>
                    </a:p>
                  </a:txBody>
                  <a:tcPr anchor="ctr" marT="18288" marB="18288">
                    <a:solidFill>
                      <a:srgbClr val="DCEBFA"/>
                    </a:solidFill>
                  </a:tcPr>
                </a:tc>
                <a:tc>
                  <a:txBody>
                    <a:bodyPr/>
                    <a:lstStyle/>
                    <a:p>
                      <a:pPr algn="ctr"/>
                      <a:r>
                        <a:rPr sz="1600" b="1">
                          <a:solidFill>
                            <a:srgbClr val="1B1F2A"/>
                          </a:solidFill>
                          <a:latin typeface="Calibri"/>
                        </a:rPr>
                        <a:t>0.110</a:t>
                      </a:r>
                    </a:p>
                  </a:txBody>
                  <a:tcPr anchor="ctr" marT="18288" marB="18288">
                    <a:solidFill>
                      <a:srgbClr val="DCEBFA"/>
                    </a:solidFill>
                  </a:tcPr>
                </a:tc>
              </a:tr>
            </a:tbl>
          </a:graphicData>
        </a:graphic>
      </p:graphicFrame>
      <p:sp>
        <p:nvSpPr>
          <p:cNvPr id="7" name="TextBox 6"/>
          <p:cNvSpPr txBox="1"/>
          <p:nvPr/>
        </p:nvSpPr>
        <p:spPr>
          <a:xfrm>
            <a:off x="4846320" y="1143000"/>
            <a:ext cx="1828800" cy="320040"/>
          </a:xfrm>
          <a:prstGeom prst="rect">
            <a:avLst/>
          </a:prstGeom>
          <a:noFill/>
        </p:spPr>
        <p:txBody>
          <a:bodyPr wrap="square" anchor="t" lIns="45720" rIns="45720" tIns="27432" bIns="27432">
            <a:spAutoFit/>
          </a:bodyPr>
          <a:lstStyle/>
          <a:p>
            <a:pPr algn="ctr"/>
            <a:r>
              <a:rPr sz="1800" b="1" i="0">
                <a:solidFill>
                  <a:srgbClr val="14213D"/>
                </a:solidFill>
                <a:latin typeface="Calibri"/>
              </a:rPr>
              <a:t>Dense</a:t>
            </a:r>
          </a:p>
        </p:txBody>
      </p:sp>
      <p:pic>
        <p:nvPicPr>
          <p:cNvPr id="8" name="Picture 7" descr="ablation_heatmap.png"/>
          <p:cNvPicPr>
            <a:picLocks noChangeAspect="1"/>
          </p:cNvPicPr>
          <p:nvPr/>
        </p:nvPicPr>
        <p:blipFill>
          <a:blip r:embed="rId3"/>
          <a:stretch>
            <a:fillRect/>
          </a:stretch>
        </p:blipFill>
        <p:spPr>
          <a:xfrm>
            <a:off x="4846320" y="1463040"/>
            <a:ext cx="1595435" cy="4023360"/>
          </a:xfrm>
          <a:prstGeom prst="rect">
            <a:avLst/>
          </a:prstGeom>
        </p:spPr>
      </p:pic>
      <p:sp>
        <p:nvSpPr>
          <p:cNvPr id="9" name="TextBox 8"/>
          <p:cNvSpPr txBox="1"/>
          <p:nvPr/>
        </p:nvSpPr>
        <p:spPr>
          <a:xfrm>
            <a:off x="6858000" y="1143000"/>
            <a:ext cx="1828800" cy="320040"/>
          </a:xfrm>
          <a:prstGeom prst="rect">
            <a:avLst/>
          </a:prstGeom>
          <a:noFill/>
        </p:spPr>
        <p:txBody>
          <a:bodyPr wrap="square" anchor="t" lIns="45720" rIns="45720" tIns="27432" bIns="27432">
            <a:spAutoFit/>
          </a:bodyPr>
          <a:lstStyle/>
          <a:p>
            <a:pPr algn="ctr"/>
            <a:r>
              <a:rPr sz="1800" b="1" i="0">
                <a:solidFill>
                  <a:srgbClr val="14213D"/>
                </a:solidFill>
                <a:latin typeface="Calibri"/>
              </a:rPr>
              <a:t>Routed</a:t>
            </a:r>
          </a:p>
        </p:txBody>
      </p:sp>
      <p:pic>
        <p:nvPicPr>
          <p:cNvPr id="10" name="Picture 9" descr="ablation_heatmap.png"/>
          <p:cNvPicPr>
            <a:picLocks noChangeAspect="1"/>
          </p:cNvPicPr>
          <p:nvPr/>
        </p:nvPicPr>
        <p:blipFill>
          <a:blip r:embed="rId4"/>
          <a:stretch>
            <a:fillRect/>
          </a:stretch>
        </p:blipFill>
        <p:spPr>
          <a:xfrm>
            <a:off x="6858000" y="1463040"/>
            <a:ext cx="1595435" cy="4023360"/>
          </a:xfrm>
          <a:prstGeom prst="rect">
            <a:avLst/>
          </a:prstGeom>
        </p:spPr>
      </p:pic>
      <p:sp>
        <p:nvSpPr>
          <p:cNvPr id="11" name="TextBox 10"/>
          <p:cNvSpPr txBox="1"/>
          <p:nvPr/>
        </p:nvSpPr>
        <p:spPr>
          <a:xfrm>
            <a:off x="4572000" y="5504688"/>
            <a:ext cx="4297680" cy="365760"/>
          </a:xfrm>
          <a:prstGeom prst="rect">
            <a:avLst/>
          </a:prstGeom>
          <a:noFill/>
        </p:spPr>
        <p:txBody>
          <a:bodyPr wrap="square" anchor="t" lIns="45720" rIns="45720" tIns="27432" bIns="27432">
            <a:spAutoFit/>
          </a:bodyPr>
          <a:lstStyle/>
          <a:p>
            <a:pPr algn="ctr"/>
            <a:r>
              <a:rPr sz="1200" b="0" i="0">
                <a:solidFill>
                  <a:srgbClr val="5B6475"/>
                </a:solidFill>
                <a:latin typeface="Calibri"/>
              </a:rPr>
              <a:t>Rows: blocks switched off. Darker = more damage. Scales differ.</a:t>
            </a:r>
          </a:p>
        </p:txBody>
      </p:sp>
      <p:sp>
        <p:nvSpPr>
          <p:cNvPr id="12" name="TextBox 11"/>
          <p:cNvSpPr txBox="1"/>
          <p:nvPr/>
        </p:nvSpPr>
        <p:spPr>
          <a:xfrm>
            <a:off x="8915400" y="1143000"/>
            <a:ext cx="2743200" cy="320040"/>
          </a:xfrm>
          <a:prstGeom prst="rect">
            <a:avLst/>
          </a:prstGeom>
          <a:noFill/>
        </p:spPr>
        <p:txBody>
          <a:bodyPr wrap="square" anchor="t" lIns="45720" rIns="45720" tIns="27432" bIns="27432">
            <a:spAutoFit/>
          </a:bodyPr>
          <a:lstStyle/>
          <a:p>
            <a:pPr algn="l"/>
            <a:r>
              <a:rPr sz="1800" b="1" i="0">
                <a:solidFill>
                  <a:srgbClr val="14213D"/>
                </a:solidFill>
                <a:latin typeface="Calibri"/>
              </a:rPr>
              <a:t>Model output (dense)</a:t>
            </a:r>
          </a:p>
        </p:txBody>
      </p:sp>
      <p:sp>
        <p:nvSpPr>
          <p:cNvPr id="13" name="Rounded Rectangle 12"/>
          <p:cNvSpPr/>
          <p:nvPr/>
        </p:nvSpPr>
        <p:spPr>
          <a:xfrm>
            <a:off x="8915400" y="1508760"/>
            <a:ext cx="2788920" cy="1280160"/>
          </a:xfrm>
          <a:prstGeom prst="roundRect">
            <a:avLst>
              <a:gd name="adj" fmla="val 8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006840" y="1581912"/>
            <a:ext cx="822960" cy="256032"/>
          </a:xfrm>
          <a:prstGeom prst="roundRect">
            <a:avLst>
              <a:gd name="adj" fmla="val 50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FFFFFF"/>
                </a:solidFill>
                <a:latin typeface="Calibri"/>
              </a:rPr>
              <a:t>Story</a:t>
            </a:r>
          </a:p>
        </p:txBody>
      </p:sp>
      <p:sp>
        <p:nvSpPr>
          <p:cNvPr id="15" name="TextBox 14"/>
          <p:cNvSpPr txBox="1"/>
          <p:nvPr/>
        </p:nvSpPr>
        <p:spPr>
          <a:xfrm>
            <a:off x="9006840" y="1874519"/>
            <a:ext cx="2606040" cy="914400"/>
          </a:xfrm>
          <a:prstGeom prst="rect">
            <a:avLst/>
          </a:prstGeom>
          <a:noFill/>
        </p:spPr>
        <p:txBody>
          <a:bodyPr wrap="square" anchor="t" lIns="45720" rIns="45720" tIns="27432" bIns="27432">
            <a:spAutoFit/>
          </a:bodyPr>
          <a:lstStyle/>
          <a:p>
            <a:pPr algn="l"/>
            <a:r>
              <a:rPr sz="1200" b="0" i="0">
                <a:solidFill>
                  <a:srgbClr val="1B1F2A"/>
                </a:solidFill>
                <a:latin typeface="Calibri"/>
              </a:rPr>
              <a:t>“Once upon a time there lived a tidy little girl. One day she went to the park with her mom.”</a:t>
            </a:r>
          </a:p>
        </p:txBody>
      </p:sp>
      <p:sp>
        <p:nvSpPr>
          <p:cNvPr id="16" name="Rounded Rectangle 15"/>
          <p:cNvSpPr/>
          <p:nvPr/>
        </p:nvSpPr>
        <p:spPr>
          <a:xfrm>
            <a:off x="8915400" y="2880360"/>
            <a:ext cx="2788920" cy="1280160"/>
          </a:xfrm>
          <a:prstGeom prst="roundRect">
            <a:avLst>
              <a:gd name="adj" fmla="val 8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006840" y="2953512"/>
            <a:ext cx="822960" cy="256032"/>
          </a:xfrm>
          <a:prstGeom prst="roundRect">
            <a:avLst>
              <a:gd name="adj" fmla="val 50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FFFFFF"/>
                </a:solidFill>
                <a:latin typeface="Calibri"/>
              </a:rPr>
              <a:t>Math</a:t>
            </a:r>
          </a:p>
        </p:txBody>
      </p:sp>
      <p:sp>
        <p:nvSpPr>
          <p:cNvPr id="18" name="TextBox 17"/>
          <p:cNvSpPr txBox="1"/>
          <p:nvPr/>
        </p:nvSpPr>
        <p:spPr>
          <a:xfrm>
            <a:off x="9006840" y="3246120"/>
            <a:ext cx="2606040" cy="914400"/>
          </a:xfrm>
          <a:prstGeom prst="rect">
            <a:avLst/>
          </a:prstGeom>
          <a:noFill/>
        </p:spPr>
        <p:txBody>
          <a:bodyPr wrap="square" anchor="t" lIns="45720" rIns="45720" tIns="27432" bIns="27432">
            <a:spAutoFit/>
          </a:bodyPr>
          <a:lstStyle/>
          <a:p>
            <a:pPr algn="l"/>
            <a:r>
              <a:rPr sz="1200" b="0" i="0">
                <a:solidFill>
                  <a:srgbClr val="1B1F2A"/>
                </a:solidFill>
                <a:latin typeface="Calibri"/>
              </a:rPr>
              <a:t>Q: 26 - 5 = A: 21</a:t>
            </a:r>
          </a:p>
        </p:txBody>
      </p:sp>
      <p:sp>
        <p:nvSpPr>
          <p:cNvPr id="19" name="Rounded Rectangle 18"/>
          <p:cNvSpPr/>
          <p:nvPr/>
        </p:nvSpPr>
        <p:spPr>
          <a:xfrm>
            <a:off x="8915400" y="4251960"/>
            <a:ext cx="2788920" cy="1280160"/>
          </a:xfrm>
          <a:prstGeom prst="roundRect">
            <a:avLst>
              <a:gd name="adj" fmla="val 8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006840" y="4325112"/>
            <a:ext cx="822960" cy="256032"/>
          </a:xfrm>
          <a:prstGeom prst="roundRect">
            <a:avLst>
              <a:gd name="adj" fmla="val 50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a:solidFill>
                  <a:srgbClr val="FFFFFF"/>
                </a:solidFill>
                <a:latin typeface="Calibri"/>
              </a:rPr>
              <a:t>Code</a:t>
            </a:r>
          </a:p>
        </p:txBody>
      </p:sp>
      <p:sp>
        <p:nvSpPr>
          <p:cNvPr id="21" name="TextBox 20"/>
          <p:cNvSpPr txBox="1"/>
          <p:nvPr/>
        </p:nvSpPr>
        <p:spPr>
          <a:xfrm>
            <a:off x="9006840" y="4617720"/>
            <a:ext cx="2606040" cy="914400"/>
          </a:xfrm>
          <a:prstGeom prst="rect">
            <a:avLst/>
          </a:prstGeom>
          <a:noFill/>
        </p:spPr>
        <p:txBody>
          <a:bodyPr wrap="square" anchor="t" lIns="45720" rIns="45720" tIns="27432" bIns="27432">
            <a:spAutoFit/>
          </a:bodyPr>
          <a:lstStyle/>
          <a:p>
            <a:pPr algn="l"/>
            <a:r>
              <a:rPr sz="1200" b="0" i="0">
                <a:solidFill>
                  <a:srgbClr val="1B1F2A"/>
                </a:solidFill>
                <a:latin typeface="Calibri"/>
              </a:rPr>
              <a:t>def add(a, b): o = b.read() … return o
(looks like code, not valid yet)</a:t>
            </a:r>
          </a:p>
        </p:txBody>
      </p:sp>
      <p:sp>
        <p:nvSpPr>
          <p:cNvPr id="22" name="Rounded Rectangle 21"/>
          <p:cNvSpPr/>
          <p:nvPr/>
        </p:nvSpPr>
        <p:spPr>
          <a:xfrm>
            <a:off x="457200" y="5897880"/>
            <a:ext cx="11247120" cy="502920"/>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700" b="1">
                <a:solidFill>
                  <a:srgbClr val="FFFFFF"/>
                </a:solidFill>
                <a:latin typeface="Calibri"/>
              </a:rPr>
              <a:t>Takeaway: routing doubled specialization (S 0.05 → 0.11) for a 3–7% loss cost. One run each, so not yet proven.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20040"/>
            <a:ext cx="11064240" cy="822960"/>
          </a:xfrm>
          <a:prstGeom prst="rect">
            <a:avLst/>
          </a:prstGeom>
          <a:noFill/>
        </p:spPr>
        <p:txBody>
          <a:bodyPr wrap="square" anchor="ctr" lIns="45720" rIns="45720" tIns="27432" bIns="27432">
            <a:spAutoFit/>
          </a:bodyPr>
          <a:lstStyle/>
          <a:p>
            <a:pPr algn="l"/>
            <a:r>
              <a:rPr sz="3600" b="1" i="0">
                <a:solidFill>
                  <a:srgbClr val="14213D"/>
                </a:solidFill>
                <a:latin typeface="Cambria"/>
              </a:rPr>
              <a:t>A key finding, and what is still open</a:t>
            </a:r>
          </a:p>
        </p:txBody>
      </p:sp>
      <p:sp>
        <p:nvSpPr>
          <p:cNvPr id="3" name="TextBox 2"/>
          <p:cNvSpPr txBox="1"/>
          <p:nvPr/>
        </p:nvSpPr>
        <p:spPr>
          <a:xfrm>
            <a:off x="10881360" y="6400800"/>
            <a:ext cx="822960" cy="274320"/>
          </a:xfrm>
          <a:prstGeom prst="rect">
            <a:avLst/>
          </a:prstGeom>
          <a:noFill/>
        </p:spPr>
        <p:txBody>
          <a:bodyPr wrap="square" anchor="t" lIns="45720" rIns="45720" tIns="27432" bIns="27432">
            <a:spAutoFit/>
          </a:bodyPr>
          <a:lstStyle/>
          <a:p>
            <a:pPr algn="r"/>
            <a:r>
              <a:rPr sz="1200" b="0" i="0">
                <a:solidFill>
                  <a:srgbClr val="5B6475"/>
                </a:solidFill>
                <a:latin typeface="Calibri"/>
              </a:rPr>
              <a:t>9 / 10</a:t>
            </a:r>
          </a:p>
        </p:txBody>
      </p:sp>
      <p:sp>
        <p:nvSpPr>
          <p:cNvPr id="4" name="TextBox 3"/>
          <p:cNvSpPr txBox="1"/>
          <p:nvPr/>
        </p:nvSpPr>
        <p:spPr>
          <a:xfrm>
            <a:off x="548640" y="1371599"/>
            <a:ext cx="5394960" cy="457200"/>
          </a:xfrm>
          <a:prstGeom prst="rect">
            <a:avLst/>
          </a:prstGeom>
          <a:noFill/>
        </p:spPr>
        <p:txBody>
          <a:bodyPr wrap="square" anchor="t" lIns="45720" rIns="45720" tIns="27432" bIns="27432">
            <a:spAutoFit/>
          </a:bodyPr>
          <a:lstStyle/>
          <a:p>
            <a:pPr algn="l"/>
            <a:r>
              <a:rPr sz="2200" b="1" i="0">
                <a:solidFill>
                  <a:srgbClr val="14213D"/>
                </a:solidFill>
                <a:latin typeface="Calibri"/>
              </a:rPr>
              <a:t>Before: naive masking</a:t>
            </a:r>
          </a:p>
        </p:txBody>
      </p:sp>
      <p:sp>
        <p:nvSpPr>
          <p:cNvPr id="5" name="Rounded Rectangle 4"/>
          <p:cNvSpPr/>
          <p:nvPr/>
        </p:nvSpPr>
        <p:spPr>
          <a:xfrm>
            <a:off x="548640" y="1874519"/>
            <a:ext cx="548640" cy="548640"/>
          </a:xfrm>
          <a:prstGeom prst="roundRect">
            <a:avLst>
              <a:gd name="adj" fmla="val 15000"/>
            </a:avLst>
          </a:prstGeom>
          <a:solidFill>
            <a:srgbClr val="D5D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188719" y="1874519"/>
            <a:ext cx="548640" cy="548640"/>
          </a:xfrm>
          <a:prstGeom prst="roundRect">
            <a:avLst>
              <a:gd name="adj" fmla="val 15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828800" y="1874519"/>
            <a:ext cx="548640" cy="548640"/>
          </a:xfrm>
          <a:prstGeom prst="roundRect">
            <a:avLst>
              <a:gd name="adj" fmla="val 15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468879" y="1874519"/>
            <a:ext cx="548640" cy="548640"/>
          </a:xfrm>
          <a:prstGeom prst="roundRect">
            <a:avLst>
              <a:gd name="adj" fmla="val 15000"/>
            </a:avLst>
          </a:prstGeom>
          <a:solidFill>
            <a:srgbClr val="D5D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108960" y="1874519"/>
            <a:ext cx="548640" cy="548640"/>
          </a:xfrm>
          <a:prstGeom prst="roundRect">
            <a:avLst>
              <a:gd name="adj" fmla="val 15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749039" y="1874519"/>
            <a:ext cx="548640" cy="548640"/>
          </a:xfrm>
          <a:prstGeom prst="roundRect">
            <a:avLst>
              <a:gd name="adj" fmla="val 15000"/>
            </a:avLst>
          </a:prstGeom>
          <a:solidFill>
            <a:srgbClr val="D5D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89119" y="1874519"/>
            <a:ext cx="548640" cy="548640"/>
          </a:xfrm>
          <a:prstGeom prst="roundRect">
            <a:avLst>
              <a:gd name="adj" fmla="val 15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29199" y="1874519"/>
            <a:ext cx="548640" cy="548640"/>
          </a:xfrm>
          <a:prstGeom prst="roundRect">
            <a:avLst>
              <a:gd name="adj" fmla="val 15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8640" y="2514600"/>
            <a:ext cx="548640" cy="548640"/>
          </a:xfrm>
          <a:prstGeom prst="roundRect">
            <a:avLst>
              <a:gd name="adj" fmla="val 15000"/>
            </a:avLst>
          </a:prstGeom>
          <a:solidFill>
            <a:srgbClr val="D5D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188719" y="2514600"/>
            <a:ext cx="548640" cy="548640"/>
          </a:xfrm>
          <a:prstGeom prst="roundRect">
            <a:avLst>
              <a:gd name="adj" fmla="val 15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828800" y="2514600"/>
            <a:ext cx="548640" cy="548640"/>
          </a:xfrm>
          <a:prstGeom prst="roundRect">
            <a:avLst>
              <a:gd name="adj" fmla="val 15000"/>
            </a:avLst>
          </a:prstGeom>
          <a:solidFill>
            <a:srgbClr val="D5D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468879" y="2514600"/>
            <a:ext cx="548640" cy="548640"/>
          </a:xfrm>
          <a:prstGeom prst="roundRect">
            <a:avLst>
              <a:gd name="adj" fmla="val 15000"/>
            </a:avLst>
          </a:prstGeom>
          <a:solidFill>
            <a:srgbClr val="D5D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108960" y="2514600"/>
            <a:ext cx="548640" cy="548640"/>
          </a:xfrm>
          <a:prstGeom prst="roundRect">
            <a:avLst>
              <a:gd name="adj" fmla="val 15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749039" y="2514600"/>
            <a:ext cx="548640" cy="548640"/>
          </a:xfrm>
          <a:prstGeom prst="roundRect">
            <a:avLst>
              <a:gd name="adj" fmla="val 15000"/>
            </a:avLst>
          </a:prstGeom>
          <a:solidFill>
            <a:srgbClr val="D5D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389119" y="2514600"/>
            <a:ext cx="548640" cy="548640"/>
          </a:xfrm>
          <a:prstGeom prst="roundRect">
            <a:avLst>
              <a:gd name="adj" fmla="val 15000"/>
            </a:avLst>
          </a:prstGeom>
          <a:solidFill>
            <a:srgbClr val="D5D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29199" y="2514600"/>
            <a:ext cx="548640" cy="548640"/>
          </a:xfrm>
          <a:prstGeom prst="roundRect">
            <a:avLst>
              <a:gd name="adj" fmla="val 15000"/>
            </a:avLst>
          </a:prstGeom>
          <a:solidFill>
            <a:srgbClr val="D5D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246120"/>
            <a:ext cx="5394960" cy="640080"/>
          </a:xfrm>
          <a:prstGeom prst="rect">
            <a:avLst/>
          </a:prstGeom>
          <a:noFill/>
        </p:spPr>
        <p:txBody>
          <a:bodyPr wrap="square" anchor="t" lIns="45720" rIns="45720" tIns="27432" bIns="27432">
            <a:spAutoFit/>
          </a:bodyPr>
          <a:lstStyle/>
          <a:p>
            <a:pPr algn="l"/>
            <a:r>
              <a:rPr sz="1600" b="0" i="0">
                <a:solidFill>
                  <a:srgbClr val="1B1F2A"/>
                </a:solidFill>
                <a:latin typeface="Calibri"/>
              </a:rPr>
              <a:t>9 of 16 blocks never selected (small test): the balancing signal was blocked too.</a:t>
            </a:r>
          </a:p>
        </p:txBody>
      </p:sp>
      <p:cxnSp>
        <p:nvCxnSpPr>
          <p:cNvPr id="22" name="Connector 21"/>
          <p:cNvCxnSpPr/>
          <p:nvPr/>
        </p:nvCxnSpPr>
        <p:spPr>
          <a:xfrm>
            <a:off x="5806440" y="2468880"/>
            <a:ext cx="640080" cy="0"/>
          </a:xfrm>
          <a:prstGeom prst="line">
            <a:avLst/>
          </a:prstGeom>
          <a:ln w="38100">
            <a:solidFill>
              <a:srgbClr val="5B6475"/>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629400" y="1371599"/>
            <a:ext cx="5394960" cy="457200"/>
          </a:xfrm>
          <a:prstGeom prst="rect">
            <a:avLst/>
          </a:prstGeom>
          <a:noFill/>
        </p:spPr>
        <p:txBody>
          <a:bodyPr wrap="square" anchor="t" lIns="45720" rIns="45720" tIns="27432" bIns="27432">
            <a:spAutoFit/>
          </a:bodyPr>
          <a:lstStyle/>
          <a:p>
            <a:pPr algn="l"/>
            <a:r>
              <a:rPr sz="2200" b="1" i="0">
                <a:solidFill>
                  <a:srgbClr val="14213D"/>
                </a:solidFill>
                <a:latin typeface="Calibri"/>
              </a:rPr>
              <a:t>After: balancing signal not masked</a:t>
            </a:r>
          </a:p>
        </p:txBody>
      </p:sp>
      <p:sp>
        <p:nvSpPr>
          <p:cNvPr id="24" name="Rounded Rectangle 23"/>
          <p:cNvSpPr/>
          <p:nvPr/>
        </p:nvSpPr>
        <p:spPr>
          <a:xfrm>
            <a:off x="6629400" y="1874519"/>
            <a:ext cx="548640" cy="548640"/>
          </a:xfrm>
          <a:prstGeom prst="roundRect">
            <a:avLst>
              <a:gd name="adj" fmla="val 15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269480" y="1874519"/>
            <a:ext cx="548640" cy="548640"/>
          </a:xfrm>
          <a:prstGeom prst="roundRect">
            <a:avLst>
              <a:gd name="adj" fmla="val 15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909560" y="1874519"/>
            <a:ext cx="548640" cy="548640"/>
          </a:xfrm>
          <a:prstGeom prst="roundRect">
            <a:avLst>
              <a:gd name="adj" fmla="val 15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549640" y="1874519"/>
            <a:ext cx="548640" cy="548640"/>
          </a:xfrm>
          <a:prstGeom prst="roundRect">
            <a:avLst>
              <a:gd name="adj" fmla="val 15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189720" y="1874519"/>
            <a:ext cx="548640" cy="548640"/>
          </a:xfrm>
          <a:prstGeom prst="roundRect">
            <a:avLst>
              <a:gd name="adj" fmla="val 15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829800" y="1874519"/>
            <a:ext cx="548640" cy="548640"/>
          </a:xfrm>
          <a:prstGeom prst="roundRect">
            <a:avLst>
              <a:gd name="adj" fmla="val 15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0469880" y="1874519"/>
            <a:ext cx="548640" cy="548640"/>
          </a:xfrm>
          <a:prstGeom prst="roundRect">
            <a:avLst>
              <a:gd name="adj" fmla="val 15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1109959" y="1874519"/>
            <a:ext cx="548640" cy="548640"/>
          </a:xfrm>
          <a:prstGeom prst="roundRect">
            <a:avLst>
              <a:gd name="adj" fmla="val 15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629400" y="2514600"/>
            <a:ext cx="548640" cy="548640"/>
          </a:xfrm>
          <a:prstGeom prst="roundRect">
            <a:avLst>
              <a:gd name="adj" fmla="val 15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269480" y="2514600"/>
            <a:ext cx="548640" cy="548640"/>
          </a:xfrm>
          <a:prstGeom prst="roundRect">
            <a:avLst>
              <a:gd name="adj" fmla="val 15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7909560" y="2514600"/>
            <a:ext cx="548640" cy="548640"/>
          </a:xfrm>
          <a:prstGeom prst="roundRect">
            <a:avLst>
              <a:gd name="adj" fmla="val 15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8549640" y="2514600"/>
            <a:ext cx="548640" cy="548640"/>
          </a:xfrm>
          <a:prstGeom prst="roundRect">
            <a:avLst>
              <a:gd name="adj" fmla="val 15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189720" y="2514600"/>
            <a:ext cx="548640" cy="548640"/>
          </a:xfrm>
          <a:prstGeom prst="roundRect">
            <a:avLst>
              <a:gd name="adj" fmla="val 15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9829800" y="2514600"/>
            <a:ext cx="548640" cy="548640"/>
          </a:xfrm>
          <a:prstGeom prst="roundRect">
            <a:avLst>
              <a:gd name="adj" fmla="val 15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10469880" y="2514600"/>
            <a:ext cx="548640" cy="548640"/>
          </a:xfrm>
          <a:prstGeom prst="roundRect">
            <a:avLst>
              <a:gd name="adj" fmla="val 15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11109959" y="2514600"/>
            <a:ext cx="548640" cy="548640"/>
          </a:xfrm>
          <a:prstGeom prst="roundRect">
            <a:avLst>
              <a:gd name="adj" fmla="val 15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3246120"/>
            <a:ext cx="5394960" cy="640080"/>
          </a:xfrm>
          <a:prstGeom prst="rect">
            <a:avLst/>
          </a:prstGeom>
          <a:noFill/>
        </p:spPr>
        <p:txBody>
          <a:bodyPr wrap="square" anchor="t" lIns="45720" rIns="45720" tIns="27432" bIns="27432">
            <a:spAutoFit/>
          </a:bodyPr>
          <a:lstStyle/>
          <a:p>
            <a:pPr algn="l"/>
            <a:r>
              <a:rPr sz="1600" b="0" i="0">
                <a:solidFill>
                  <a:srgbClr val="1B1F2A"/>
                </a:solidFill>
                <a:latin typeface="Calibri"/>
              </a:rPr>
              <a:t>No block left behind. Full run: all 48 blocks used.</a:t>
            </a:r>
          </a:p>
        </p:txBody>
      </p:sp>
      <p:sp>
        <p:nvSpPr>
          <p:cNvPr id="41" name="TextBox 40"/>
          <p:cNvSpPr txBox="1"/>
          <p:nvPr/>
        </p:nvSpPr>
        <p:spPr>
          <a:xfrm>
            <a:off x="548640" y="3931920"/>
            <a:ext cx="10972800" cy="411480"/>
          </a:xfrm>
          <a:prstGeom prst="rect">
            <a:avLst/>
          </a:prstGeom>
          <a:noFill/>
        </p:spPr>
        <p:txBody>
          <a:bodyPr wrap="square" anchor="t" lIns="45720" rIns="45720" tIns="27432" bIns="27432">
            <a:spAutoFit/>
          </a:bodyPr>
          <a:lstStyle/>
          <a:p>
            <a:pPr algn="l"/>
            <a:r>
              <a:rPr sz="2200" b="1" i="0">
                <a:solidFill>
                  <a:srgbClr val="14213D"/>
                </a:solidFill>
                <a:latin typeface="Calibri"/>
              </a:rPr>
              <a:t>Known limitations</a:t>
            </a:r>
          </a:p>
        </p:txBody>
      </p:sp>
      <p:sp>
        <p:nvSpPr>
          <p:cNvPr id="42" name="Rounded Rectangle 41"/>
          <p:cNvSpPr/>
          <p:nvPr/>
        </p:nvSpPr>
        <p:spPr>
          <a:xfrm>
            <a:off x="457200" y="4434840"/>
            <a:ext cx="3566160" cy="1828800"/>
          </a:xfrm>
          <a:prstGeom prst="roundRect">
            <a:avLst>
              <a:gd name="adj" fmla="val 8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0080" y="4526280"/>
            <a:ext cx="3200400" cy="457200"/>
          </a:xfrm>
          <a:prstGeom prst="rect">
            <a:avLst/>
          </a:prstGeom>
          <a:noFill/>
        </p:spPr>
        <p:txBody>
          <a:bodyPr wrap="square" anchor="t" lIns="45720" rIns="45720" tIns="27432" bIns="27432">
            <a:spAutoFit/>
          </a:bodyPr>
          <a:lstStyle/>
          <a:p>
            <a:pPr algn="l"/>
            <a:r>
              <a:rPr sz="2000" b="1" i="0">
                <a:solidFill>
                  <a:srgbClr val="14213D"/>
                </a:solidFill>
                <a:latin typeface="Calibri"/>
              </a:rPr>
              <a:t>Dominant block</a:t>
            </a:r>
          </a:p>
        </p:txBody>
      </p:sp>
      <p:sp>
        <p:nvSpPr>
          <p:cNvPr id="44" name="TextBox 43"/>
          <p:cNvSpPr txBox="1"/>
          <p:nvPr/>
        </p:nvSpPr>
        <p:spPr>
          <a:xfrm>
            <a:off x="640080" y="5029200"/>
            <a:ext cx="3200400" cy="1188720"/>
          </a:xfrm>
          <a:prstGeom prst="rect">
            <a:avLst/>
          </a:prstGeom>
          <a:noFill/>
        </p:spPr>
        <p:txBody>
          <a:bodyPr wrap="square" anchor="t" lIns="45720" rIns="45720" tIns="27432" bIns="27432">
            <a:spAutoFit/>
          </a:bodyPr>
          <a:lstStyle/>
          <a:p>
            <a:pPr algn="l"/>
            <a:r>
              <a:rPr sz="1800" b="0" i="0">
                <a:solidFill>
                  <a:srgbClr val="1B1F2A"/>
                </a:solidFill>
                <a:latin typeface="Calibri"/>
              </a:rPr>
              <a:t>Layer 0, block 6 took 70% of picks; most took 15–31%.</a:t>
            </a:r>
          </a:p>
        </p:txBody>
      </p:sp>
      <p:sp>
        <p:nvSpPr>
          <p:cNvPr id="45" name="Rounded Rectangle 44"/>
          <p:cNvSpPr/>
          <p:nvPr/>
        </p:nvSpPr>
        <p:spPr>
          <a:xfrm>
            <a:off x="4297680" y="4434840"/>
            <a:ext cx="3566160" cy="1828800"/>
          </a:xfrm>
          <a:prstGeom prst="roundRect">
            <a:avLst>
              <a:gd name="adj" fmla="val 8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480560" y="4526280"/>
            <a:ext cx="3200400" cy="457200"/>
          </a:xfrm>
          <a:prstGeom prst="rect">
            <a:avLst/>
          </a:prstGeom>
          <a:noFill/>
        </p:spPr>
        <p:txBody>
          <a:bodyPr wrap="square" anchor="t" lIns="45720" rIns="45720" tIns="27432" bIns="27432">
            <a:spAutoFit/>
          </a:bodyPr>
          <a:lstStyle/>
          <a:p>
            <a:pPr algn="l"/>
            <a:r>
              <a:rPr sz="2000" b="1" i="0">
                <a:solidFill>
                  <a:srgbClr val="14213D"/>
                </a:solidFill>
                <a:latin typeface="Calibri"/>
              </a:rPr>
              <a:t>Mixed batches</a:t>
            </a:r>
          </a:p>
        </p:txBody>
      </p:sp>
      <p:sp>
        <p:nvSpPr>
          <p:cNvPr id="47" name="TextBox 46"/>
          <p:cNvSpPr txBox="1"/>
          <p:nvPr/>
        </p:nvSpPr>
        <p:spPr>
          <a:xfrm>
            <a:off x="4480560" y="5029200"/>
            <a:ext cx="3200400" cy="1188720"/>
          </a:xfrm>
          <a:prstGeom prst="rect">
            <a:avLst/>
          </a:prstGeom>
          <a:noFill/>
        </p:spPr>
        <p:txBody>
          <a:bodyPr wrap="square" anchor="t" lIns="45720" rIns="45720" tIns="27432" bIns="27432">
            <a:spAutoFit/>
          </a:bodyPr>
          <a:lstStyle/>
          <a:p>
            <a:pPr algn="l"/>
            <a:r>
              <a:rPr sz="1800" b="0" i="0">
                <a:solidFill>
                  <a:srgbClr val="1B1F2A"/>
                </a:solidFill>
                <a:latin typeface="Calibri"/>
              </a:rPr>
              <a:t>A batch holds stories, math and code, so each pick averages them.</a:t>
            </a:r>
          </a:p>
        </p:txBody>
      </p:sp>
      <p:sp>
        <p:nvSpPr>
          <p:cNvPr id="48" name="Rounded Rectangle 47"/>
          <p:cNvSpPr/>
          <p:nvPr/>
        </p:nvSpPr>
        <p:spPr>
          <a:xfrm>
            <a:off x="8138160" y="4434840"/>
            <a:ext cx="3566160" cy="1828800"/>
          </a:xfrm>
          <a:prstGeom prst="roundRect">
            <a:avLst>
              <a:gd name="adj" fmla="val 8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321040" y="4526280"/>
            <a:ext cx="3200400" cy="457200"/>
          </a:xfrm>
          <a:prstGeom prst="rect">
            <a:avLst/>
          </a:prstGeom>
          <a:noFill/>
        </p:spPr>
        <p:txBody>
          <a:bodyPr wrap="square" anchor="t" lIns="45720" rIns="45720" tIns="27432" bIns="27432">
            <a:spAutoFit/>
          </a:bodyPr>
          <a:lstStyle/>
          <a:p>
            <a:pPr algn="l"/>
            <a:r>
              <a:rPr sz="2000" b="1" i="0">
                <a:solidFill>
                  <a:srgbClr val="14213D"/>
                </a:solidFill>
                <a:latin typeface="Calibri"/>
              </a:rPr>
              <a:t>Optimizer drift</a:t>
            </a:r>
          </a:p>
        </p:txBody>
      </p:sp>
      <p:sp>
        <p:nvSpPr>
          <p:cNvPr id="50" name="TextBox 49"/>
          <p:cNvSpPr txBox="1"/>
          <p:nvPr/>
        </p:nvSpPr>
        <p:spPr>
          <a:xfrm>
            <a:off x="8321040" y="5029200"/>
            <a:ext cx="3200400" cy="1188720"/>
          </a:xfrm>
          <a:prstGeom prst="rect">
            <a:avLst/>
          </a:prstGeom>
          <a:noFill/>
        </p:spPr>
        <p:txBody>
          <a:bodyPr wrap="square" anchor="t" lIns="45720" rIns="45720" tIns="27432" bIns="27432">
            <a:spAutoFit/>
          </a:bodyPr>
          <a:lstStyle/>
          <a:p>
            <a:pPr algn="l"/>
            <a:r>
              <a:rPr sz="1800" b="0" i="0">
                <a:solidFill>
                  <a:srgbClr val="1B1F2A"/>
                </a:solidFill>
                <a:latin typeface="Calibri"/>
              </a:rPr>
              <a:t>AdamW still nudges blocks we blocked.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320040"/>
            <a:ext cx="11064240" cy="822960"/>
          </a:xfrm>
          <a:prstGeom prst="rect">
            <a:avLst/>
          </a:prstGeom>
          <a:noFill/>
        </p:spPr>
        <p:txBody>
          <a:bodyPr wrap="square" anchor="ctr" lIns="45720" rIns="45720" tIns="27432" bIns="27432">
            <a:spAutoFit/>
          </a:bodyPr>
          <a:lstStyle/>
          <a:p>
            <a:pPr algn="l"/>
            <a:r>
              <a:rPr sz="3600" b="1" i="0">
                <a:solidFill>
                  <a:srgbClr val="14213D"/>
                </a:solidFill>
                <a:latin typeface="Cambria"/>
              </a:rPr>
              <a:t>Progress and next steps</a:t>
            </a:r>
          </a:p>
        </p:txBody>
      </p:sp>
      <p:sp>
        <p:nvSpPr>
          <p:cNvPr id="3" name="TextBox 2"/>
          <p:cNvSpPr txBox="1"/>
          <p:nvPr/>
        </p:nvSpPr>
        <p:spPr>
          <a:xfrm>
            <a:off x="10881360" y="6400800"/>
            <a:ext cx="822960" cy="274320"/>
          </a:xfrm>
          <a:prstGeom prst="rect">
            <a:avLst/>
          </a:prstGeom>
          <a:noFill/>
        </p:spPr>
        <p:txBody>
          <a:bodyPr wrap="square" anchor="t" lIns="45720" rIns="45720" tIns="27432" bIns="27432">
            <a:spAutoFit/>
          </a:bodyPr>
          <a:lstStyle/>
          <a:p>
            <a:pPr algn="r"/>
            <a:r>
              <a:rPr sz="1200" b="0" i="0">
                <a:solidFill>
                  <a:srgbClr val="5B6475"/>
                </a:solidFill>
                <a:latin typeface="Calibri"/>
              </a:rPr>
              <a:t>10 / 10</a:t>
            </a:r>
          </a:p>
        </p:txBody>
      </p:sp>
      <p:sp>
        <p:nvSpPr>
          <p:cNvPr id="4" name="Rounded Rectangle 3"/>
          <p:cNvSpPr/>
          <p:nvPr/>
        </p:nvSpPr>
        <p:spPr>
          <a:xfrm>
            <a:off x="457200" y="1325880"/>
            <a:ext cx="6400800" cy="868680"/>
          </a:xfrm>
          <a:prstGeom prst="roundRect">
            <a:avLst>
              <a:gd name="adj" fmla="val 8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62456"/>
            <a:ext cx="3108960" cy="457200"/>
          </a:xfrm>
          <a:prstGeom prst="rect">
            <a:avLst/>
          </a:prstGeom>
          <a:noFill/>
        </p:spPr>
        <p:txBody>
          <a:bodyPr wrap="square" anchor="t" lIns="45720" rIns="45720" tIns="27432" bIns="27432">
            <a:spAutoFit/>
          </a:bodyPr>
          <a:lstStyle/>
          <a:p>
            <a:pPr algn="l"/>
            <a:r>
              <a:rPr sz="2000" b="1" i="0">
                <a:solidFill>
                  <a:srgbClr val="14213D"/>
                </a:solidFill>
                <a:latin typeface="Calibri"/>
              </a:rPr>
              <a:t>Data pipeline</a:t>
            </a:r>
          </a:p>
        </p:txBody>
      </p:sp>
      <p:sp>
        <p:nvSpPr>
          <p:cNvPr id="6" name="TextBox 5"/>
          <p:cNvSpPr txBox="1"/>
          <p:nvPr/>
        </p:nvSpPr>
        <p:spPr>
          <a:xfrm>
            <a:off x="640080" y="1783080"/>
            <a:ext cx="3291840" cy="365760"/>
          </a:xfrm>
          <a:prstGeom prst="rect">
            <a:avLst/>
          </a:prstGeom>
          <a:noFill/>
        </p:spPr>
        <p:txBody>
          <a:bodyPr wrap="square" anchor="t" lIns="45720" rIns="45720" tIns="27432" bIns="27432">
            <a:spAutoFit/>
          </a:bodyPr>
          <a:lstStyle/>
          <a:p>
            <a:pPr algn="l"/>
            <a:r>
              <a:rPr sz="1400" b="0" i="0">
                <a:solidFill>
                  <a:srgbClr val="5B6475"/>
                </a:solidFill>
                <a:latin typeface="Calibri"/>
              </a:rPr>
              <a:t>41M tokens, 3 domains</a:t>
            </a:r>
          </a:p>
        </p:txBody>
      </p:sp>
      <p:sp>
        <p:nvSpPr>
          <p:cNvPr id="7" name="Rounded Rectangle 6"/>
          <p:cNvSpPr/>
          <p:nvPr/>
        </p:nvSpPr>
        <p:spPr>
          <a:xfrm>
            <a:off x="5120640" y="1527048"/>
            <a:ext cx="1554480" cy="457200"/>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a:solidFill>
                  <a:srgbClr val="FFFFFF"/>
                </a:solidFill>
                <a:latin typeface="Calibri"/>
              </a:rPr>
              <a:t>Completed</a:t>
            </a:r>
          </a:p>
        </p:txBody>
      </p:sp>
      <p:sp>
        <p:nvSpPr>
          <p:cNvPr id="8" name="Rounded Rectangle 7"/>
          <p:cNvSpPr/>
          <p:nvPr/>
        </p:nvSpPr>
        <p:spPr>
          <a:xfrm>
            <a:off x="457200" y="2286000"/>
            <a:ext cx="6400800" cy="868680"/>
          </a:xfrm>
          <a:prstGeom prst="roundRect">
            <a:avLst>
              <a:gd name="adj" fmla="val 8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322576"/>
            <a:ext cx="3108960" cy="457200"/>
          </a:xfrm>
          <a:prstGeom prst="rect">
            <a:avLst/>
          </a:prstGeom>
          <a:noFill/>
        </p:spPr>
        <p:txBody>
          <a:bodyPr wrap="square" anchor="t" lIns="45720" rIns="45720" tIns="27432" bIns="27432">
            <a:spAutoFit/>
          </a:bodyPr>
          <a:lstStyle/>
          <a:p>
            <a:pPr algn="l"/>
            <a:r>
              <a:rPr sz="2000" b="1" i="0">
                <a:solidFill>
                  <a:srgbClr val="14213D"/>
                </a:solidFill>
                <a:latin typeface="Calibri"/>
              </a:rPr>
              <a:t>Baseline training</a:t>
            </a:r>
          </a:p>
        </p:txBody>
      </p:sp>
      <p:sp>
        <p:nvSpPr>
          <p:cNvPr id="10" name="TextBox 9"/>
          <p:cNvSpPr txBox="1"/>
          <p:nvPr/>
        </p:nvSpPr>
        <p:spPr>
          <a:xfrm>
            <a:off x="640080" y="2743200"/>
            <a:ext cx="3291840" cy="365760"/>
          </a:xfrm>
          <a:prstGeom prst="rect">
            <a:avLst/>
          </a:prstGeom>
          <a:noFill/>
        </p:spPr>
        <p:txBody>
          <a:bodyPr wrap="square" anchor="t" lIns="45720" rIns="45720" tIns="27432" bIns="27432">
            <a:spAutoFit/>
          </a:bodyPr>
          <a:lstStyle/>
          <a:p>
            <a:pPr algn="l"/>
            <a:r>
              <a:rPr sz="1400" b="0" i="0">
                <a:solidFill>
                  <a:srgbClr val="5B6475"/>
                </a:solidFill>
                <a:latin typeface="Calibri"/>
              </a:rPr>
              <a:t>5,000 steps on a T4</a:t>
            </a:r>
          </a:p>
        </p:txBody>
      </p:sp>
      <p:sp>
        <p:nvSpPr>
          <p:cNvPr id="11" name="Rounded Rectangle 10"/>
          <p:cNvSpPr/>
          <p:nvPr/>
        </p:nvSpPr>
        <p:spPr>
          <a:xfrm>
            <a:off x="5120640" y="2487168"/>
            <a:ext cx="1554480" cy="457200"/>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a:solidFill>
                  <a:srgbClr val="FFFFFF"/>
                </a:solidFill>
                <a:latin typeface="Calibri"/>
              </a:rPr>
              <a:t>Completed</a:t>
            </a:r>
          </a:p>
        </p:txBody>
      </p:sp>
      <p:sp>
        <p:nvSpPr>
          <p:cNvPr id="12" name="Rounded Rectangle 11"/>
          <p:cNvSpPr/>
          <p:nvPr/>
        </p:nvSpPr>
        <p:spPr>
          <a:xfrm>
            <a:off x="457200" y="3246120"/>
            <a:ext cx="6400800" cy="868680"/>
          </a:xfrm>
          <a:prstGeom prst="roundRect">
            <a:avLst>
              <a:gd name="adj" fmla="val 8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282696"/>
            <a:ext cx="3108960" cy="457200"/>
          </a:xfrm>
          <a:prstGeom prst="rect">
            <a:avLst/>
          </a:prstGeom>
          <a:noFill/>
        </p:spPr>
        <p:txBody>
          <a:bodyPr wrap="square" anchor="t" lIns="45720" rIns="45720" tIns="27432" bIns="27432">
            <a:spAutoFit/>
          </a:bodyPr>
          <a:lstStyle/>
          <a:p>
            <a:pPr algn="l"/>
            <a:r>
              <a:rPr sz="2000" b="1" i="0">
                <a:solidFill>
                  <a:srgbClr val="14213D"/>
                </a:solidFill>
                <a:latin typeface="Calibri"/>
              </a:rPr>
              <a:t>Routing module</a:t>
            </a:r>
          </a:p>
        </p:txBody>
      </p:sp>
      <p:sp>
        <p:nvSpPr>
          <p:cNvPr id="14" name="TextBox 13"/>
          <p:cNvSpPr txBox="1"/>
          <p:nvPr/>
        </p:nvSpPr>
        <p:spPr>
          <a:xfrm>
            <a:off x="640080" y="3703320"/>
            <a:ext cx="3291840" cy="365760"/>
          </a:xfrm>
          <a:prstGeom prst="rect">
            <a:avLst/>
          </a:prstGeom>
          <a:noFill/>
        </p:spPr>
        <p:txBody>
          <a:bodyPr wrap="square" anchor="t" lIns="45720" rIns="45720" tIns="27432" bIns="27432">
            <a:spAutoFit/>
          </a:bodyPr>
          <a:lstStyle/>
          <a:p>
            <a:pPr algn="l"/>
            <a:r>
              <a:rPr sz="1400" b="0" i="0">
                <a:solidFill>
                  <a:srgbClr val="5B6475"/>
                </a:solidFill>
                <a:latin typeface="Calibri"/>
              </a:rPr>
              <a:t>14 tests, 1 full run</a:t>
            </a:r>
          </a:p>
        </p:txBody>
      </p:sp>
      <p:sp>
        <p:nvSpPr>
          <p:cNvPr id="15" name="Rounded Rectangle 14"/>
          <p:cNvSpPr/>
          <p:nvPr/>
        </p:nvSpPr>
        <p:spPr>
          <a:xfrm>
            <a:off x="5120640" y="3447288"/>
            <a:ext cx="1554480" cy="457200"/>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a:solidFill>
                  <a:srgbClr val="FFFFFF"/>
                </a:solidFill>
                <a:latin typeface="Calibri"/>
              </a:rPr>
              <a:t>Completed</a:t>
            </a:r>
          </a:p>
        </p:txBody>
      </p:sp>
      <p:sp>
        <p:nvSpPr>
          <p:cNvPr id="16" name="Rounded Rectangle 15"/>
          <p:cNvSpPr/>
          <p:nvPr/>
        </p:nvSpPr>
        <p:spPr>
          <a:xfrm>
            <a:off x="457200" y="4206240"/>
            <a:ext cx="6400800" cy="868680"/>
          </a:xfrm>
          <a:prstGeom prst="roundRect">
            <a:avLst>
              <a:gd name="adj" fmla="val 8000"/>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242816"/>
            <a:ext cx="3108960" cy="457200"/>
          </a:xfrm>
          <a:prstGeom prst="rect">
            <a:avLst/>
          </a:prstGeom>
          <a:noFill/>
        </p:spPr>
        <p:txBody>
          <a:bodyPr wrap="square" anchor="t" lIns="45720" rIns="45720" tIns="27432" bIns="27432">
            <a:spAutoFit/>
          </a:bodyPr>
          <a:lstStyle/>
          <a:p>
            <a:pPr algn="l"/>
            <a:r>
              <a:rPr sz="2000" b="1" i="0">
                <a:solidFill>
                  <a:srgbClr val="14213D"/>
                </a:solidFill>
                <a:latin typeface="Calibri"/>
              </a:rPr>
              <a:t>Evaluation harness</a:t>
            </a:r>
          </a:p>
        </p:txBody>
      </p:sp>
      <p:sp>
        <p:nvSpPr>
          <p:cNvPr id="18" name="TextBox 17"/>
          <p:cNvSpPr txBox="1"/>
          <p:nvPr/>
        </p:nvSpPr>
        <p:spPr>
          <a:xfrm>
            <a:off x="640080" y="4663440"/>
            <a:ext cx="3291840" cy="365760"/>
          </a:xfrm>
          <a:prstGeom prst="rect">
            <a:avLst/>
          </a:prstGeom>
          <a:noFill/>
        </p:spPr>
        <p:txBody>
          <a:bodyPr wrap="square" anchor="t" lIns="45720" rIns="45720" tIns="27432" bIns="27432">
            <a:spAutoFit/>
          </a:bodyPr>
          <a:lstStyle/>
          <a:p>
            <a:pPr algn="l"/>
            <a:r>
              <a:rPr sz="1400" b="0" i="0">
                <a:solidFill>
                  <a:srgbClr val="5B6475"/>
                </a:solidFill>
                <a:latin typeface="Calibri"/>
              </a:rPr>
              <a:t>Ablation done, probes pending</a:t>
            </a:r>
          </a:p>
        </p:txBody>
      </p:sp>
      <p:sp>
        <p:nvSpPr>
          <p:cNvPr id="19" name="Rounded Rectangle 18"/>
          <p:cNvSpPr/>
          <p:nvPr/>
        </p:nvSpPr>
        <p:spPr>
          <a:xfrm>
            <a:off x="5120640" y="4407408"/>
            <a:ext cx="1554480" cy="457200"/>
          </a:xfrm>
          <a:prstGeom prst="roundRect">
            <a:avLst>
              <a:gd name="adj" fmla="val 50000"/>
            </a:avLst>
          </a:prstGeom>
          <a:solidFill>
            <a:srgbClr val="F2B1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a:solidFill>
                  <a:srgbClr val="14213D"/>
                </a:solidFill>
                <a:latin typeface="Calibri"/>
              </a:rPr>
              <a:t>Ongoing</a:t>
            </a:r>
          </a:p>
        </p:txBody>
      </p:sp>
      <p:sp>
        <p:nvSpPr>
          <p:cNvPr id="20" name="TextBox 19"/>
          <p:cNvSpPr txBox="1"/>
          <p:nvPr/>
        </p:nvSpPr>
        <p:spPr>
          <a:xfrm>
            <a:off x="7223760" y="1280160"/>
            <a:ext cx="4480560" cy="457200"/>
          </a:xfrm>
          <a:prstGeom prst="rect">
            <a:avLst/>
          </a:prstGeom>
          <a:noFill/>
        </p:spPr>
        <p:txBody>
          <a:bodyPr wrap="square" anchor="t" lIns="45720" rIns="45720" tIns="27432" bIns="27432">
            <a:spAutoFit/>
          </a:bodyPr>
          <a:lstStyle/>
          <a:p>
            <a:pPr algn="l"/>
            <a:r>
              <a:rPr sz="2200" b="1" i="0">
                <a:solidFill>
                  <a:srgbClr val="14213D"/>
                </a:solidFill>
                <a:latin typeface="Calibri"/>
              </a:rPr>
              <a:t>Next steps</a:t>
            </a:r>
          </a:p>
        </p:txBody>
      </p:sp>
      <p:sp>
        <p:nvSpPr>
          <p:cNvPr id="21" name="Oval 20"/>
          <p:cNvSpPr/>
          <p:nvPr/>
        </p:nvSpPr>
        <p:spPr>
          <a:xfrm>
            <a:off x="7223760" y="1783080"/>
            <a:ext cx="411480" cy="4114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a:solidFill>
                  <a:srgbClr val="FFFFFF"/>
                </a:solidFill>
                <a:latin typeface="Calibri"/>
              </a:rPr>
              <a:t>1</a:t>
            </a:r>
          </a:p>
        </p:txBody>
      </p:sp>
      <p:sp>
        <p:nvSpPr>
          <p:cNvPr id="22" name="TextBox 21"/>
          <p:cNvSpPr txBox="1"/>
          <p:nvPr/>
        </p:nvSpPr>
        <p:spPr>
          <a:xfrm>
            <a:off x="7772400" y="1755648"/>
            <a:ext cx="4023360" cy="502920"/>
          </a:xfrm>
          <a:prstGeom prst="rect">
            <a:avLst/>
          </a:prstGeom>
          <a:noFill/>
        </p:spPr>
        <p:txBody>
          <a:bodyPr wrap="square" anchor="ctr" lIns="45720" rIns="45720" tIns="27432" bIns="27432">
            <a:spAutoFit/>
          </a:bodyPr>
          <a:lstStyle/>
          <a:p>
            <a:pPr algn="l"/>
            <a:r>
              <a:rPr sz="1800" b="0" i="0">
                <a:solidFill>
                  <a:srgbClr val="1B1F2A"/>
                </a:solidFill>
                <a:latin typeface="Calibri"/>
              </a:rPr>
              <a:t>Repeat with several seeds</a:t>
            </a:r>
          </a:p>
        </p:txBody>
      </p:sp>
      <p:sp>
        <p:nvSpPr>
          <p:cNvPr id="23" name="Oval 22"/>
          <p:cNvSpPr/>
          <p:nvPr/>
        </p:nvSpPr>
        <p:spPr>
          <a:xfrm>
            <a:off x="7223760" y="2350008"/>
            <a:ext cx="411480" cy="4114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a:solidFill>
                  <a:srgbClr val="FFFFFF"/>
                </a:solidFill>
                <a:latin typeface="Calibri"/>
              </a:rPr>
              <a:t>2</a:t>
            </a:r>
          </a:p>
        </p:txBody>
      </p:sp>
      <p:sp>
        <p:nvSpPr>
          <p:cNvPr id="24" name="TextBox 23"/>
          <p:cNvSpPr txBox="1"/>
          <p:nvPr/>
        </p:nvSpPr>
        <p:spPr>
          <a:xfrm>
            <a:off x="7772400" y="2322576"/>
            <a:ext cx="4023360" cy="502920"/>
          </a:xfrm>
          <a:prstGeom prst="rect">
            <a:avLst/>
          </a:prstGeom>
          <a:noFill/>
        </p:spPr>
        <p:txBody>
          <a:bodyPr wrap="square" anchor="ctr" lIns="45720" rIns="45720" tIns="27432" bIns="27432">
            <a:spAutoFit/>
          </a:bodyPr>
          <a:lstStyle/>
          <a:p>
            <a:pPr algn="l"/>
            <a:r>
              <a:rPr sz="1800" b="0" i="0">
                <a:solidFill>
                  <a:srgbClr val="1B1F2A"/>
                </a:solidFill>
                <a:latin typeface="Calibri"/>
              </a:rPr>
              <a:t>Human-assigned regions baseline</a:t>
            </a:r>
          </a:p>
        </p:txBody>
      </p:sp>
      <p:sp>
        <p:nvSpPr>
          <p:cNvPr id="25" name="Oval 24"/>
          <p:cNvSpPr/>
          <p:nvPr/>
        </p:nvSpPr>
        <p:spPr>
          <a:xfrm>
            <a:off x="7223760" y="2916936"/>
            <a:ext cx="411480" cy="4114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a:solidFill>
                  <a:srgbClr val="FFFFFF"/>
                </a:solidFill>
                <a:latin typeface="Calibri"/>
              </a:rPr>
              <a:t>3</a:t>
            </a:r>
          </a:p>
        </p:txBody>
      </p:sp>
      <p:sp>
        <p:nvSpPr>
          <p:cNvPr id="26" name="TextBox 25"/>
          <p:cNvSpPr txBox="1"/>
          <p:nvPr/>
        </p:nvSpPr>
        <p:spPr>
          <a:xfrm>
            <a:off x="7772400" y="2889504"/>
            <a:ext cx="4023360" cy="502920"/>
          </a:xfrm>
          <a:prstGeom prst="rect">
            <a:avLst/>
          </a:prstGeom>
          <a:noFill/>
        </p:spPr>
        <p:txBody>
          <a:bodyPr wrap="square" anchor="ctr" lIns="45720" rIns="45720" tIns="27432" bIns="27432">
            <a:spAutoFit/>
          </a:bodyPr>
          <a:lstStyle/>
          <a:p>
            <a:pPr algn="l"/>
            <a:r>
              <a:rPr sz="1800" b="0" i="0">
                <a:solidFill>
                  <a:srgbClr val="1B1F2A"/>
                </a:solidFill>
                <a:latin typeface="Calibri"/>
              </a:rPr>
              <a:t>Fix dominant block and drift</a:t>
            </a:r>
          </a:p>
        </p:txBody>
      </p:sp>
      <p:sp>
        <p:nvSpPr>
          <p:cNvPr id="27" name="Oval 26"/>
          <p:cNvSpPr/>
          <p:nvPr/>
        </p:nvSpPr>
        <p:spPr>
          <a:xfrm>
            <a:off x="7223760" y="3483863"/>
            <a:ext cx="411480" cy="4114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a:solidFill>
                  <a:srgbClr val="FFFFFF"/>
                </a:solidFill>
                <a:latin typeface="Calibri"/>
              </a:rPr>
              <a:t>4</a:t>
            </a:r>
          </a:p>
        </p:txBody>
      </p:sp>
      <p:sp>
        <p:nvSpPr>
          <p:cNvPr id="28" name="TextBox 27"/>
          <p:cNvSpPr txBox="1"/>
          <p:nvPr/>
        </p:nvSpPr>
        <p:spPr>
          <a:xfrm>
            <a:off x="7772400" y="3456432"/>
            <a:ext cx="4023360" cy="502920"/>
          </a:xfrm>
          <a:prstGeom prst="rect">
            <a:avLst/>
          </a:prstGeom>
          <a:noFill/>
        </p:spPr>
        <p:txBody>
          <a:bodyPr wrap="square" anchor="ctr" lIns="45720" rIns="45720" tIns="27432" bIns="27432">
            <a:spAutoFit/>
          </a:bodyPr>
          <a:lstStyle/>
          <a:p>
            <a:pPr algn="l"/>
            <a:r>
              <a:rPr sz="1800" b="0" i="0">
                <a:solidFill>
                  <a:srgbClr val="1B1F2A"/>
                </a:solidFill>
                <a:latin typeface="Calibri"/>
              </a:rPr>
              <a:t>Consolidation phase</a:t>
            </a:r>
          </a:p>
        </p:txBody>
      </p:sp>
      <p:sp>
        <p:nvSpPr>
          <p:cNvPr id="29" name="Oval 28"/>
          <p:cNvSpPr/>
          <p:nvPr/>
        </p:nvSpPr>
        <p:spPr>
          <a:xfrm>
            <a:off x="7223760" y="4050791"/>
            <a:ext cx="411480" cy="4114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a:solidFill>
                  <a:srgbClr val="FFFFFF"/>
                </a:solidFill>
                <a:latin typeface="Calibri"/>
              </a:rPr>
              <a:t>5</a:t>
            </a:r>
          </a:p>
        </p:txBody>
      </p:sp>
      <p:sp>
        <p:nvSpPr>
          <p:cNvPr id="30" name="TextBox 29"/>
          <p:cNvSpPr txBox="1"/>
          <p:nvPr/>
        </p:nvSpPr>
        <p:spPr>
          <a:xfrm>
            <a:off x="7772400" y="4023359"/>
            <a:ext cx="4023360" cy="502920"/>
          </a:xfrm>
          <a:prstGeom prst="rect">
            <a:avLst/>
          </a:prstGeom>
          <a:noFill/>
        </p:spPr>
        <p:txBody>
          <a:bodyPr wrap="square" anchor="ctr" lIns="45720" rIns="45720" tIns="27432" bIns="27432">
            <a:spAutoFit/>
          </a:bodyPr>
          <a:lstStyle/>
          <a:p>
            <a:pPr algn="l"/>
            <a:r>
              <a:rPr sz="1800" b="0" i="0">
                <a:solidFill>
                  <a:srgbClr val="1B1F2A"/>
                </a:solidFill>
                <a:latin typeface="Calibri"/>
              </a:rPr>
              <a:t>Domain probes</a:t>
            </a:r>
          </a:p>
        </p:txBody>
      </p:sp>
      <p:sp>
        <p:nvSpPr>
          <p:cNvPr id="31" name="Oval 30"/>
          <p:cNvSpPr/>
          <p:nvPr/>
        </p:nvSpPr>
        <p:spPr>
          <a:xfrm>
            <a:off x="7223760" y="4617720"/>
            <a:ext cx="411480" cy="4114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a:solidFill>
                  <a:srgbClr val="FFFFFF"/>
                </a:solidFill>
                <a:latin typeface="Calibri"/>
              </a:rPr>
              <a:t>6</a:t>
            </a:r>
          </a:p>
        </p:txBody>
      </p:sp>
      <p:sp>
        <p:nvSpPr>
          <p:cNvPr id="32" name="TextBox 31"/>
          <p:cNvSpPr txBox="1"/>
          <p:nvPr/>
        </p:nvSpPr>
        <p:spPr>
          <a:xfrm>
            <a:off x="7772400" y="4590288"/>
            <a:ext cx="4023360" cy="502920"/>
          </a:xfrm>
          <a:prstGeom prst="rect">
            <a:avLst/>
          </a:prstGeom>
          <a:noFill/>
        </p:spPr>
        <p:txBody>
          <a:bodyPr wrap="square" anchor="ctr" lIns="45720" rIns="45720" tIns="27432" bIns="27432">
            <a:spAutoFit/>
          </a:bodyPr>
          <a:lstStyle/>
          <a:p>
            <a:pPr algn="l"/>
            <a:r>
              <a:rPr sz="1800" b="0" i="0">
                <a:solidFill>
                  <a:srgbClr val="1B1F2A"/>
                </a:solidFill>
                <a:latin typeface="Calibri"/>
              </a:rPr>
              <a:t>Unlearning and continual learning</a:t>
            </a:r>
          </a:p>
        </p:txBody>
      </p:sp>
      <p:sp>
        <p:nvSpPr>
          <p:cNvPr id="33" name="Rounded Rectangle 32"/>
          <p:cNvSpPr/>
          <p:nvPr/>
        </p:nvSpPr>
        <p:spPr>
          <a:xfrm>
            <a:off x="457200" y="5349240"/>
            <a:ext cx="11247120" cy="914400"/>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3400" b="1">
                <a:solidFill>
                  <a:srgbClr val="FFFFFF"/>
                </a:solidFill>
                <a:latin typeface="Cambria"/>
              </a:rPr>
              <a:t>Thank you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